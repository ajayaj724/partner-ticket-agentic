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8"/>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thank Rajan. Quick framing: 30 minutes total - 12 minutes on the real project, 12 minutes on how I'd redesign it as an agentic system per the brief, then 5 minutes of reflections, then I'll open up for questions. Mention upfront that the project is solo-delivered work for a Belgian telecom and that everything I show is at architecture level, not customer or business-sensitive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structure. Make the point that the brief explicitly asked for a redesign-as-agentic if I hadn't built production agents - I'm taking that opportunity seriously, not just sprinkling buzzwords.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unusual scope - this is the kind of platform a typical squad would scope for a quarter. Stress that 'solo' doesn't mean 'no review' - I had architects to lean on, but design, code, infra, and rollout were owned end-to-end. If asked, I can name the client (Telenet) but the slides keep things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I explain how working onsite as an SPOC differs from working from a delivery centre - direct stakeholder access, faster decision cycles, but also no diffusion of responsibility. The Business Analyst absorption was the inflection point: when the assigned BA dropped off, I picked up requirements gathering rather than waiting for a replacement, which kept the project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surface is three Java/Quarkus Lambdas — each one owns a single REST endpoint that wraps a specific downstream telecom system. Splitting by downstream gave us independent failure isolation, independent scaling, and made cold-start budgets per-endpoint. Walk this top to bottom: Route 53 / CloudFront / WAF on the edge; the Angular UI is the only ECS container (ECS Fargate). Data tier is two stores — DynamoDB as system of record; OpenSearch for partner-side faceted search. The DynamoDB → OpenSearch sync is done via OSIS (Amazon OpenSearch Ingestion Service) consuming DynamoDB CDC streams — fully managed, no custom indexer code to operate. Cross-cutting: Dynatrace + Splunk for observability, Okta OIDC for UI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panels probe. Be ready to defend each trade-off. Quarkus-on-Lambda was the actual deployment for the three per-downstream APIs — the choice paid off in cold-start latency, where Spring Boot would have hurt us. The data-tier split is the most consequential decision; sync between DynamoDB and OpenSearch runs over DynamoDB CDC streams into OSIS (the managed OpenSearch Ingestion Service) — no custom indexer code, no Lambda concurrency tuning, no DLQ-handler maintenance, fully AWS-native. On identity, Okta was the org-wide IdP for partner SSO — group-based RBAC out of the box; the trade-off is vendor lock-in to Okta which the org had already accepted. I'm prepared to argue each decision and what I'd do differently with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NFRs are where Lead-level scrutiny lives. I'd lean into observability - being able to debug from a single correlation ID across browser -&gt; Angular UI on ECS -&gt; three per-downstream Quarkus Lambdas -&gt; DynamoDB -&gt; CDC streams -&gt; OSIS -&gt; OpenSearch is what made solo on-call feasible. Using OSIS for the OpenSearch sync removed an entire operational surface — no custom indexer code, no Lambda concurrency tuning, no DLQ-handler maintenance. On durability: DynamoDB point-in-time recovery plus native multi-AZ replication cover the durability story without needing a separate relational tier. Backend scaling is Lambda-native (concurrency, per endpoint); the only ECS thing we scale is the UI container. Identity is Okta OIDC, with Okta groups mapped to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 obstacle is the one I'm most ready to talk about. The integration brief described an Okta flow that worked for direct employees but didn't account for federated partner identities. We caught it during integration testing, not design - that's a learning. I'll come back to it on the 'biggest mistake' slide. On the data-tier obstacle: the CDC-streams + OSIS pattern made the dual-store choice operationally cheap — no custom indexer to run, OSIS handles retries and DLQ, and the API never blocks on the search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pause and reframe. This section describes what the planned next phase of the platform would look like - automating ticket handling with AI agents was on the roadmap from the start, not a hypothetical retrofit. I'm taking the same domain - partner-ticketing - and showing how the next-phase build would be architected, knowing what I know about agentic systems. The aim is not to AI-everything; it's to find the surfaces where agents add value over rules and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 want to land: agents are the right tool because the work is repetitive judgement on text. If it were deterministic routing, it'd be rules. If it were structured numeric prediction, it'd be a classifier. Triage-and-draft on partner-language descriptions is the agent sweet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one ticket's path. Triage produces a structured envelope (category, urgency, entities). Router decides queue and assignee using Entra ID groups + workload signals. Enricher pulls customer context. Drafter produces a candidate response. Supervisor coordinates and checkpoints state. Human approves outbound.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explicit that the chosen framework is the one I would push for, but I would not die on this hill. If the client estate is Azure-heavy and a .NET shop, Semantic Kernel is a defensible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ideas I want them to take away: state-machine orchestration for traceability, and tool-call policy as a security primitive. An agent's 'permissions' are its tool list, full stop. That's how I'd design it from day one - not as a retrofit.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where most production agent systems quietly fail - they conflate everything into one bucket. I'd separate by lifetime and by trust level. Per-partner episodic memory is also where data-isolation matters: nothing leaks across tenants.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reliability story for agents is fundamentally about being able to replay any interaction and explain why a decision was made. Without that, you cannot debug, you cannot improve, and you cannot defend the system in a regulated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latency, the trick is recognising that 'the LLM is slow' is a budget you allocate, not a fact you accept. Most of the budget is recoverable through model routing and parallelism. For scalability, the new dimension is token-rate - CPU-only auto-scaling badly underprovisions for LLM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optimisation is where engineering rigour pays directly. The single biggest lever is model routing - sending every request to the frontier model is a beginner's mistake. Tight prompt + retrieval design is second. Per-tenant budgets are how you survive rolling this out to many partners with different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Capgemini's financial-services bent and the EU regulatory environment matter most. I'd want to flag upfront that responsible AI in this context is not a marketing layer - it's the design constraint that shapes data flow, retrieval scope, and human-in-the-loop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land this as evidence, not a brag. The reason it matters for Capgemini is that the role I'm interviewing for needs someone who can walk into a client situation, absorb ambiguity, set architectural direction, and ship - not someone who needs a fully-staffed team and a year to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telling this story because architecture isn't done when the boxes are drawn - it's done when the seams are tested. The federation gap was visible if I had probed; I didn't, because the brief was confidently written. The lesson generalises: confident briefs from any source - clients, vendors, my own design notes - deserve a spike, not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Reiterate interest in the Blue Harvest brief - leading engineering teams to take real client systems agentic, in regulated industries, is exactly the work I want to do next. Open for questions; if asked something I don't have a strong answer to, I'll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457200" y="1463040"/>
            <a:ext cx="164592" cy="3840480"/>
          </a:xfrm>
          <a:prstGeom prst="rect">
            <a:avLst/>
          </a:prstGeom>
          <a:solidFill>
            <a:srgbClr val="0EA5A5"/>
          </a:solidFill>
          <a:ln w="12700">
            <a:solidFill>
              <a:srgbClr val="0EA5A5"/>
            </a:solidFill>
            <a:prstDash val="solid"/>
          </a:ln>
        </p:spPr>
        <p:txBody>
          <a:bodyPr/>
          <a:p/>
        </p:txBody>
      </p:sp>
      <p:sp>
        <p:nvSpPr>
          <p:cNvPr id="3" name="Text 1"/>
          <p:cNvSpPr/>
          <p:nvPr/>
        </p:nvSpPr>
        <p:spPr>
          <a:xfrm>
            <a:off x="868680" y="1463040"/>
            <a:ext cx="10607040" cy="118872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Partner-Ticketing at Telecom Scale</a:t>
            </a:r>
            <a:endParaRPr lang="en-US" sz="4800" dirty="0"/>
          </a:p>
        </p:txBody>
      </p:sp>
      <p:sp>
        <p:nvSpPr>
          <p:cNvPr id="4" name="Text 2"/>
          <p:cNvSpPr/>
          <p:nvPr/>
        </p:nvSpPr>
        <p:spPr>
          <a:xfrm>
            <a:off x="868680" y="2743200"/>
            <a:ext cx="10607040" cy="640080"/>
          </a:xfrm>
          <a:prstGeom prst="rect">
            <a:avLst/>
          </a:prstGeom>
          <a:noFill/>
          <a:ln/>
        </p:spPr>
        <p:txBody>
          <a:bodyPr wrap="square" lIns="0" tIns="0" rIns="0" bIns="0" rtlCol="0" anchor="ctr"/>
          <a:lstStyle/>
          <a:p>
            <a:pPr algn="l" indent="0" marL="0">
              <a:buNone/>
            </a:pPr>
            <a:r>
              <a:rPr lang="en-US" sz="2200" dirty="0">
                <a:solidFill>
                  <a:srgbClr val="CBD5E1"/>
                </a:solidFill>
                <a:latin typeface="Calibri" pitchFamily="34" charset="0"/>
                <a:ea typeface="Calibri" pitchFamily="34" charset="-122"/>
                <a:cs typeface="Calibri" pitchFamily="34" charset="-120"/>
              </a:rPr>
              <a:t>Engineering, Delivery, and a Reimagining with AI Agents</a:t>
            </a:r>
            <a:endParaRPr lang="en-US" sz="2200" dirty="0"/>
          </a:p>
        </p:txBody>
      </p:sp>
      <p:sp>
        <p:nvSpPr>
          <p:cNvPr id="5" name="Text 3"/>
          <p:cNvSpPr/>
          <p:nvPr/>
        </p:nvSpPr>
        <p:spPr>
          <a:xfrm>
            <a:off x="868680" y="3657600"/>
            <a:ext cx="10607040" cy="548640"/>
          </a:xfrm>
          <a:prstGeom prst="rect">
            <a:avLst/>
          </a:prstGeom>
          <a:noFill/>
          <a:ln/>
        </p:spPr>
        <p:txBody>
          <a:bodyPr wrap="square" lIns="0" tIns="0" rIns="0" bIns="0" rtlCol="0" anchor="ctr"/>
          <a:lstStyle/>
          <a:p>
            <a:pPr algn="l" indent="0" marL="0">
              <a:buNone/>
            </a:pPr>
            <a:r>
              <a:rPr lang="en-US" sz="1800" b="1" dirty="0">
                <a:solidFill>
                  <a:srgbClr val="0EA5A5"/>
                </a:solidFill>
                <a:latin typeface="Calibri" pitchFamily="34" charset="0"/>
                <a:ea typeface="Calibri" pitchFamily="34" charset="-122"/>
                <a:cs typeface="Calibri" pitchFamily="34" charset="-120"/>
              </a:rPr>
              <a:t>Ajay Antony  ·  Lead Application Engineer</a:t>
            </a:r>
            <a:endParaRPr lang="en-US" sz="1800" dirty="0"/>
          </a:p>
        </p:txBody>
      </p:sp>
      <p:sp>
        <p:nvSpPr>
          <p:cNvPr id="6" name="Text 4"/>
          <p:cNvSpPr/>
          <p:nvPr/>
        </p:nvSpPr>
        <p:spPr>
          <a:xfrm>
            <a:off x="868680" y="5943600"/>
            <a:ext cx="10607040" cy="36576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Capgemini Blue Harvest  ·  Lead (AI) Application Engineer Panel</a:t>
            </a:r>
            <a:endParaRPr lang="en-US" sz="1300" dirty="0"/>
          </a:p>
        </p:txBody>
      </p:sp>
      <p:sp>
        <p:nvSpPr>
          <p:cNvPr id="7" name="Text 5"/>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8" name="Text 6"/>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Agenda</a:t>
            </a:r>
            <a:endParaRPr lang="en-US" sz="3000" dirty="0"/>
          </a:p>
        </p:txBody>
      </p:sp>
      <p:sp>
        <p:nvSpPr>
          <p:cNvPr id="4" name="Shape 2"/>
          <p:cNvSpPr/>
          <p:nvPr/>
        </p:nvSpPr>
        <p:spPr>
          <a:xfrm>
            <a:off x="548640" y="1554480"/>
            <a:ext cx="3611880" cy="448056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48056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3246120"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The Project</a:t>
            </a:r>
            <a:endParaRPr lang="en-US" sz="1800" dirty="0"/>
          </a:p>
        </p:txBody>
      </p:sp>
      <p:sp>
        <p:nvSpPr>
          <p:cNvPr id="7" name="Shape 5"/>
          <p:cNvSpPr/>
          <p:nvPr/>
        </p:nvSpPr>
        <p:spPr>
          <a:xfrm>
            <a:off x="841248" y="2566670"/>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Project + outcomes</a:t>
            </a:r>
            <a:endParaRPr lang="en-US" sz="1400" dirty="0"/>
          </a:p>
        </p:txBody>
      </p:sp>
      <p:sp>
        <p:nvSpPr>
          <p:cNvPr id="9" name="Shape 7"/>
          <p:cNvSpPr/>
          <p:nvPr/>
        </p:nvSpPr>
        <p:spPr>
          <a:xfrm>
            <a:off x="841248" y="2978150"/>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288036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My role</a:t>
            </a:r>
            <a:endParaRPr lang="en-US" sz="1400" dirty="0"/>
          </a:p>
        </p:txBody>
      </p:sp>
      <p:sp>
        <p:nvSpPr>
          <p:cNvPr id="11" name="Shape 9"/>
          <p:cNvSpPr/>
          <p:nvPr/>
        </p:nvSpPr>
        <p:spPr>
          <a:xfrm>
            <a:off x="841248" y="3389630"/>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329184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Architecture</a:t>
            </a:r>
            <a:endParaRPr lang="en-US" sz="1400" dirty="0"/>
          </a:p>
        </p:txBody>
      </p:sp>
      <p:sp>
        <p:nvSpPr>
          <p:cNvPr id="13" name="Shape 11"/>
          <p:cNvSpPr/>
          <p:nvPr/>
        </p:nvSpPr>
        <p:spPr>
          <a:xfrm>
            <a:off x="841248" y="3801110"/>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370332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NFRs</a:t>
            </a:r>
            <a:endParaRPr lang="en-US" sz="1400" dirty="0"/>
          </a:p>
        </p:txBody>
      </p:sp>
      <p:sp>
        <p:nvSpPr>
          <p:cNvPr id="15" name="Shape 13"/>
          <p:cNvSpPr/>
          <p:nvPr/>
        </p:nvSpPr>
        <p:spPr>
          <a:xfrm>
            <a:off x="841248" y="4212590"/>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78992" y="411480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Obstacles</a:t>
            </a:r>
            <a:endParaRPr lang="en-US" sz="1400" dirty="0"/>
          </a:p>
        </p:txBody>
      </p:sp>
      <p:sp>
        <p:nvSpPr>
          <p:cNvPr id="17" name="Shape 15"/>
          <p:cNvSpPr/>
          <p:nvPr/>
        </p:nvSpPr>
        <p:spPr>
          <a:xfrm>
            <a:off x="4389120" y="1554480"/>
            <a:ext cx="3611880" cy="4480560"/>
          </a:xfrm>
          <a:prstGeom prst="rect">
            <a:avLst/>
          </a:prstGeom>
          <a:solidFill>
            <a:srgbClr val="F8FAFC"/>
          </a:solidFill>
          <a:ln w="12700">
            <a:solidFill>
              <a:srgbClr val="E2E8F0"/>
            </a:solidFill>
            <a:prstDash val="solid"/>
          </a:ln>
        </p:spPr>
        <p:txBody>
          <a:bodyPr/>
          <a:p/>
        </p:txBody>
      </p:sp>
      <p:sp>
        <p:nvSpPr>
          <p:cNvPr id="18" name="Shape 16"/>
          <p:cNvSpPr/>
          <p:nvPr/>
        </p:nvSpPr>
        <p:spPr>
          <a:xfrm>
            <a:off x="4389120" y="1554480"/>
            <a:ext cx="73152" cy="4480560"/>
          </a:xfrm>
          <a:prstGeom prst="rect">
            <a:avLst/>
          </a:prstGeom>
          <a:solidFill>
            <a:srgbClr val="0EA5A5"/>
          </a:solidFill>
          <a:ln w="12700">
            <a:solidFill>
              <a:srgbClr val="0EA5A5"/>
            </a:solidFill>
            <a:prstDash val="solid"/>
          </a:ln>
        </p:spPr>
        <p:txBody>
          <a:bodyPr/>
          <a:p/>
        </p:txBody>
      </p:sp>
      <p:sp>
        <p:nvSpPr>
          <p:cNvPr id="19" name="Text 17"/>
          <p:cNvSpPr/>
          <p:nvPr/>
        </p:nvSpPr>
        <p:spPr>
          <a:xfrm>
            <a:off x="4663440" y="1828800"/>
            <a:ext cx="3246120"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Reimagined with AI Agents</a:t>
            </a:r>
            <a:endParaRPr lang="en-US" sz="1800" dirty="0"/>
          </a:p>
        </p:txBody>
      </p:sp>
      <p:sp>
        <p:nvSpPr>
          <p:cNvPr id="20" name="Shape 18"/>
          <p:cNvSpPr/>
          <p:nvPr/>
        </p:nvSpPr>
        <p:spPr>
          <a:xfrm>
            <a:off x="4681728" y="2566670"/>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4919472" y="246888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Why agents</a:t>
            </a:r>
            <a:endParaRPr lang="en-US" sz="1400" dirty="0"/>
          </a:p>
        </p:txBody>
      </p:sp>
      <p:sp>
        <p:nvSpPr>
          <p:cNvPr id="22" name="Shape 20"/>
          <p:cNvSpPr/>
          <p:nvPr/>
        </p:nvSpPr>
        <p:spPr>
          <a:xfrm>
            <a:off x="4681728" y="2978150"/>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4919472" y="288036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Reference architecture</a:t>
            </a:r>
            <a:endParaRPr lang="en-US" sz="1400" dirty="0"/>
          </a:p>
        </p:txBody>
      </p:sp>
      <p:sp>
        <p:nvSpPr>
          <p:cNvPr id="24" name="Shape 22"/>
          <p:cNvSpPr/>
          <p:nvPr/>
        </p:nvSpPr>
        <p:spPr>
          <a:xfrm>
            <a:off x="4681728" y="3389630"/>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4919472" y="329184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Framework, orchestration, tools</a:t>
            </a:r>
            <a:endParaRPr lang="en-US" sz="1400" dirty="0"/>
          </a:p>
        </p:txBody>
      </p:sp>
      <p:sp>
        <p:nvSpPr>
          <p:cNvPr id="26" name="Shape 24"/>
          <p:cNvSpPr/>
          <p:nvPr/>
        </p:nvSpPr>
        <p:spPr>
          <a:xfrm>
            <a:off x="4681728" y="3801110"/>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4919472" y="370332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Memory &amp; RAG</a:t>
            </a:r>
            <a:endParaRPr lang="en-US" sz="1400" dirty="0"/>
          </a:p>
        </p:txBody>
      </p:sp>
      <p:sp>
        <p:nvSpPr>
          <p:cNvPr id="28" name="Shape 26"/>
          <p:cNvSpPr/>
          <p:nvPr/>
        </p:nvSpPr>
        <p:spPr>
          <a:xfrm>
            <a:off x="4681728" y="4212590"/>
            <a:ext cx="109728" cy="109728"/>
          </a:xfrm>
          <a:prstGeom prst="ellipse">
            <a:avLst/>
          </a:prstGeom>
          <a:solidFill>
            <a:srgbClr val="0EA5A5"/>
          </a:solidFill>
          <a:ln w="12700">
            <a:solidFill>
              <a:srgbClr val="0EA5A5"/>
            </a:solidFill>
            <a:prstDash val="solid"/>
          </a:ln>
        </p:spPr>
        <p:txBody>
          <a:bodyPr/>
          <a:p/>
        </p:txBody>
      </p:sp>
      <p:sp>
        <p:nvSpPr>
          <p:cNvPr id="29" name="Text 27"/>
          <p:cNvSpPr/>
          <p:nvPr/>
        </p:nvSpPr>
        <p:spPr>
          <a:xfrm>
            <a:off x="4919472" y="411480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Reliability &amp; observability</a:t>
            </a:r>
            <a:endParaRPr lang="en-US" sz="1400" dirty="0"/>
          </a:p>
        </p:txBody>
      </p:sp>
      <p:sp>
        <p:nvSpPr>
          <p:cNvPr id="30" name="Shape 28"/>
          <p:cNvSpPr/>
          <p:nvPr/>
        </p:nvSpPr>
        <p:spPr>
          <a:xfrm>
            <a:off x="4681728" y="4624070"/>
            <a:ext cx="109728" cy="109728"/>
          </a:xfrm>
          <a:prstGeom prst="ellipse">
            <a:avLst/>
          </a:prstGeom>
          <a:solidFill>
            <a:srgbClr val="0EA5A5"/>
          </a:solidFill>
          <a:ln w="12700">
            <a:solidFill>
              <a:srgbClr val="0EA5A5"/>
            </a:solidFill>
            <a:prstDash val="solid"/>
          </a:ln>
        </p:spPr>
        <p:txBody>
          <a:bodyPr/>
          <a:p/>
        </p:txBody>
      </p:sp>
      <p:sp>
        <p:nvSpPr>
          <p:cNvPr id="31" name="Text 29"/>
          <p:cNvSpPr/>
          <p:nvPr/>
        </p:nvSpPr>
        <p:spPr>
          <a:xfrm>
            <a:off x="4919472" y="452628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Latency &amp; scalability</a:t>
            </a:r>
            <a:endParaRPr lang="en-US" sz="1400" dirty="0"/>
          </a:p>
        </p:txBody>
      </p:sp>
      <p:sp>
        <p:nvSpPr>
          <p:cNvPr id="32" name="Shape 30"/>
          <p:cNvSpPr/>
          <p:nvPr/>
        </p:nvSpPr>
        <p:spPr>
          <a:xfrm>
            <a:off x="4681728" y="5035550"/>
            <a:ext cx="109728" cy="109728"/>
          </a:xfrm>
          <a:prstGeom prst="ellipse">
            <a:avLst/>
          </a:prstGeom>
          <a:solidFill>
            <a:srgbClr val="0EA5A5"/>
          </a:solidFill>
          <a:ln w="12700">
            <a:solidFill>
              <a:srgbClr val="0EA5A5"/>
            </a:solidFill>
            <a:prstDash val="solid"/>
          </a:ln>
        </p:spPr>
        <p:txBody>
          <a:bodyPr/>
          <a:p/>
        </p:txBody>
      </p:sp>
      <p:sp>
        <p:nvSpPr>
          <p:cNvPr id="33" name="Text 31"/>
          <p:cNvSpPr/>
          <p:nvPr/>
        </p:nvSpPr>
        <p:spPr>
          <a:xfrm>
            <a:off x="4919472" y="493776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Cost</a:t>
            </a:r>
            <a:endParaRPr lang="en-US" sz="1400" dirty="0"/>
          </a:p>
        </p:txBody>
      </p:sp>
      <p:sp>
        <p:nvSpPr>
          <p:cNvPr id="34" name="Shape 32"/>
          <p:cNvSpPr/>
          <p:nvPr/>
        </p:nvSpPr>
        <p:spPr>
          <a:xfrm>
            <a:off x="4681728" y="5447030"/>
            <a:ext cx="109728" cy="109728"/>
          </a:xfrm>
          <a:prstGeom prst="ellipse">
            <a:avLst/>
          </a:prstGeom>
          <a:solidFill>
            <a:srgbClr val="0EA5A5"/>
          </a:solidFill>
          <a:ln w="12700">
            <a:solidFill>
              <a:srgbClr val="0EA5A5"/>
            </a:solidFill>
            <a:prstDash val="solid"/>
          </a:ln>
        </p:spPr>
        <p:txBody>
          <a:bodyPr/>
          <a:p/>
        </p:txBody>
      </p:sp>
      <p:sp>
        <p:nvSpPr>
          <p:cNvPr id="35" name="Text 33"/>
          <p:cNvSpPr/>
          <p:nvPr/>
        </p:nvSpPr>
        <p:spPr>
          <a:xfrm>
            <a:off x="4919472" y="534924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Safety &amp; responsible AI</a:t>
            </a:r>
            <a:endParaRPr lang="en-US" sz="1400" dirty="0"/>
          </a:p>
        </p:txBody>
      </p:sp>
      <p:sp>
        <p:nvSpPr>
          <p:cNvPr id="36" name="Shape 34"/>
          <p:cNvSpPr/>
          <p:nvPr/>
        </p:nvSpPr>
        <p:spPr>
          <a:xfrm>
            <a:off x="8229600" y="1554480"/>
            <a:ext cx="3611880" cy="4480560"/>
          </a:xfrm>
          <a:prstGeom prst="rect">
            <a:avLst/>
          </a:prstGeom>
          <a:solidFill>
            <a:srgbClr val="F8FAFC"/>
          </a:solidFill>
          <a:ln w="12700">
            <a:solidFill>
              <a:srgbClr val="E2E8F0"/>
            </a:solidFill>
            <a:prstDash val="solid"/>
          </a:ln>
        </p:spPr>
        <p:txBody>
          <a:bodyPr/>
          <a:p/>
        </p:txBody>
      </p:sp>
      <p:sp>
        <p:nvSpPr>
          <p:cNvPr id="37" name="Shape 35"/>
          <p:cNvSpPr/>
          <p:nvPr/>
        </p:nvSpPr>
        <p:spPr>
          <a:xfrm>
            <a:off x="8229600" y="1554480"/>
            <a:ext cx="73152" cy="4480560"/>
          </a:xfrm>
          <a:prstGeom prst="rect">
            <a:avLst/>
          </a:prstGeom>
          <a:solidFill>
            <a:srgbClr val="0EA5A5"/>
          </a:solidFill>
          <a:ln w="12700">
            <a:solidFill>
              <a:srgbClr val="0EA5A5"/>
            </a:solidFill>
            <a:prstDash val="solid"/>
          </a:ln>
        </p:spPr>
        <p:txBody>
          <a:bodyPr/>
          <a:p/>
        </p:txBody>
      </p:sp>
      <p:sp>
        <p:nvSpPr>
          <p:cNvPr id="38" name="Text 36"/>
          <p:cNvSpPr/>
          <p:nvPr/>
        </p:nvSpPr>
        <p:spPr>
          <a:xfrm>
            <a:off x="8503920" y="1828800"/>
            <a:ext cx="3246120"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Reflections</a:t>
            </a:r>
            <a:endParaRPr lang="en-US" sz="1800" dirty="0"/>
          </a:p>
        </p:txBody>
      </p:sp>
      <p:sp>
        <p:nvSpPr>
          <p:cNvPr id="39" name="Shape 37"/>
          <p:cNvSpPr/>
          <p:nvPr/>
        </p:nvSpPr>
        <p:spPr>
          <a:xfrm>
            <a:off x="8522208" y="2566670"/>
            <a:ext cx="109728" cy="109728"/>
          </a:xfrm>
          <a:prstGeom prst="ellipse">
            <a:avLst/>
          </a:prstGeom>
          <a:solidFill>
            <a:srgbClr val="0EA5A5"/>
          </a:solidFill>
          <a:ln w="12700">
            <a:solidFill>
              <a:srgbClr val="0EA5A5"/>
            </a:solidFill>
            <a:prstDash val="solid"/>
          </a:ln>
        </p:spPr>
        <p:txBody>
          <a:bodyPr/>
          <a:p/>
        </p:txBody>
      </p:sp>
      <p:sp>
        <p:nvSpPr>
          <p:cNvPr id="40" name="Text 38"/>
          <p:cNvSpPr/>
          <p:nvPr/>
        </p:nvSpPr>
        <p:spPr>
          <a:xfrm>
            <a:off x="8759952" y="246888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Greatest achievement</a:t>
            </a:r>
            <a:endParaRPr lang="en-US" sz="1400" dirty="0"/>
          </a:p>
        </p:txBody>
      </p:sp>
      <p:sp>
        <p:nvSpPr>
          <p:cNvPr id="41" name="Shape 39"/>
          <p:cNvSpPr/>
          <p:nvPr/>
        </p:nvSpPr>
        <p:spPr>
          <a:xfrm>
            <a:off x="8522208" y="2978150"/>
            <a:ext cx="109728" cy="109728"/>
          </a:xfrm>
          <a:prstGeom prst="ellipse">
            <a:avLst/>
          </a:prstGeom>
          <a:solidFill>
            <a:srgbClr val="0EA5A5"/>
          </a:solidFill>
          <a:ln w="12700">
            <a:solidFill>
              <a:srgbClr val="0EA5A5"/>
            </a:solidFill>
            <a:prstDash val="solid"/>
          </a:ln>
        </p:spPr>
        <p:txBody>
          <a:bodyPr/>
          <a:p/>
        </p:txBody>
      </p:sp>
      <p:sp>
        <p:nvSpPr>
          <p:cNvPr id="42" name="Text 40"/>
          <p:cNvSpPr/>
          <p:nvPr/>
        </p:nvSpPr>
        <p:spPr>
          <a:xfrm>
            <a:off x="8759952" y="288036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Biggest mistake</a:t>
            </a:r>
            <a:endParaRPr lang="en-US" sz="1400" dirty="0"/>
          </a:p>
        </p:txBody>
      </p:sp>
      <p:sp>
        <p:nvSpPr>
          <p:cNvPr id="43" name="Shape 41"/>
          <p:cNvSpPr/>
          <p:nvPr/>
        </p:nvSpPr>
        <p:spPr>
          <a:xfrm>
            <a:off x="8522208" y="3389630"/>
            <a:ext cx="109728" cy="109728"/>
          </a:xfrm>
          <a:prstGeom prst="ellipse">
            <a:avLst/>
          </a:prstGeom>
          <a:solidFill>
            <a:srgbClr val="0EA5A5"/>
          </a:solidFill>
          <a:ln w="12700">
            <a:solidFill>
              <a:srgbClr val="0EA5A5"/>
            </a:solidFill>
            <a:prstDash val="solid"/>
          </a:ln>
        </p:spPr>
        <p:txBody>
          <a:bodyPr/>
          <a:p/>
        </p:txBody>
      </p:sp>
      <p:sp>
        <p:nvSpPr>
          <p:cNvPr id="44" name="Text 42"/>
          <p:cNvSpPr/>
          <p:nvPr/>
        </p:nvSpPr>
        <p:spPr>
          <a:xfrm>
            <a:off x="8759952" y="3291840"/>
            <a:ext cx="2898648" cy="41148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What I'd change</a:t>
            </a:r>
            <a:endParaRPr lang="en-US" sz="1400" dirty="0"/>
          </a:p>
        </p:txBody>
      </p:sp>
      <p:sp>
        <p:nvSpPr>
          <p:cNvPr id="45" name="Text 4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46" name="Text 4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Project at a glance</a:t>
            </a:r>
            <a:endParaRPr lang="en-US" sz="3000" dirty="0"/>
          </a:p>
        </p:txBody>
      </p:sp>
      <p:sp>
        <p:nvSpPr>
          <p:cNvPr id="4" name="Shape 2"/>
          <p:cNvSpPr/>
          <p:nvPr/>
        </p:nvSpPr>
        <p:spPr>
          <a:xfrm>
            <a:off x="548640" y="1554480"/>
            <a:ext cx="54864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12064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Context</a:t>
            </a:r>
            <a:endParaRPr lang="en-US" sz="1800" dirty="0"/>
          </a:p>
        </p:txBody>
      </p:sp>
      <p:sp>
        <p:nvSpPr>
          <p:cNvPr id="7" name="Shape 5"/>
          <p:cNvSpPr/>
          <p:nvPr/>
        </p:nvSpPr>
        <p:spPr>
          <a:xfrm>
            <a:off x="841248" y="2566670"/>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54864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Belgian telecom; partner organisations need to raise and manage operational tickets</a:t>
            </a:r>
            <a:endParaRPr lang="en-US" sz="1400" dirty="0"/>
          </a:p>
        </p:txBody>
      </p:sp>
      <p:sp>
        <p:nvSpPr>
          <p:cNvPr id="9" name="Shape 7"/>
          <p:cNvSpPr/>
          <p:nvPr/>
        </p:nvSpPr>
        <p:spPr>
          <a:xfrm>
            <a:off x="841248" y="3115310"/>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017520"/>
            <a:ext cx="4773168" cy="54864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In-scope of the delivery: ticket CRUD (create, edit, update, cancel) + appointment management (book, modify, cancel)</a:t>
            </a:r>
            <a:endParaRPr lang="en-US" sz="1400" dirty="0"/>
          </a:p>
        </p:txBody>
      </p:sp>
      <p:sp>
        <p:nvSpPr>
          <p:cNvPr id="11" name="Shape 9"/>
          <p:cNvSpPr/>
          <p:nvPr/>
        </p:nvSpPr>
        <p:spPr>
          <a:xfrm>
            <a:off x="841248" y="3663950"/>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3566160"/>
            <a:ext cx="4773168" cy="54864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Pre-existing flow: email + spreadsheets, fragmented, slow</a:t>
            </a:r>
            <a:endParaRPr lang="en-US" sz="1400" dirty="0"/>
          </a:p>
        </p:txBody>
      </p:sp>
      <p:sp>
        <p:nvSpPr>
          <p:cNvPr id="13" name="Shape 11"/>
          <p:cNvSpPr/>
          <p:nvPr/>
        </p:nvSpPr>
        <p:spPr>
          <a:xfrm>
            <a:off x="841248" y="4212590"/>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4114800"/>
            <a:ext cx="4773168" cy="54864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AI-driven automated ticket handling was on the roadmap for the next phase, not this delivery</a:t>
            </a:r>
            <a:endParaRPr lang="en-US" sz="1400" dirty="0"/>
          </a:p>
        </p:txBody>
      </p:sp>
      <p:sp>
        <p:nvSpPr>
          <p:cNvPr id="15" name="Shape 13"/>
          <p:cNvSpPr/>
          <p:nvPr/>
        </p:nvSpPr>
        <p:spPr>
          <a:xfrm>
            <a:off x="6309360" y="1554480"/>
            <a:ext cx="5486400" cy="4572000"/>
          </a:xfrm>
          <a:prstGeom prst="rect">
            <a:avLst/>
          </a:prstGeom>
          <a:solidFill>
            <a:srgbClr val="F8FAFC"/>
          </a:solidFill>
          <a:ln w="12700">
            <a:solidFill>
              <a:srgbClr val="E2E8F0"/>
            </a:solidFill>
            <a:prstDash val="solid"/>
          </a:ln>
        </p:spPr>
        <p:txBody>
          <a:bodyPr/>
          <a:p/>
        </p:txBody>
      </p:sp>
      <p:sp>
        <p:nvSpPr>
          <p:cNvPr id="16" name="Shape 14"/>
          <p:cNvSpPr/>
          <p:nvPr/>
        </p:nvSpPr>
        <p:spPr>
          <a:xfrm>
            <a:off x="6309360" y="1554480"/>
            <a:ext cx="73152" cy="4572000"/>
          </a:xfrm>
          <a:prstGeom prst="rect">
            <a:avLst/>
          </a:prstGeom>
          <a:solidFill>
            <a:srgbClr val="0EA5A5"/>
          </a:solidFill>
          <a:ln w="12700">
            <a:solidFill>
              <a:srgbClr val="0EA5A5"/>
            </a:solidFill>
            <a:prstDash val="solid"/>
          </a:ln>
        </p:spPr>
        <p:txBody>
          <a:bodyPr/>
          <a:p/>
        </p:txBody>
      </p:sp>
      <p:sp>
        <p:nvSpPr>
          <p:cNvPr id="17" name="Text 15"/>
          <p:cNvSpPr/>
          <p:nvPr/>
        </p:nvSpPr>
        <p:spPr>
          <a:xfrm>
            <a:off x="6583680" y="1828800"/>
            <a:ext cx="512064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Outcomes</a:t>
            </a:r>
            <a:endParaRPr lang="en-US" sz="1800" dirty="0"/>
          </a:p>
        </p:txBody>
      </p:sp>
      <p:sp>
        <p:nvSpPr>
          <p:cNvPr id="18" name="Shape 16"/>
          <p:cNvSpPr/>
          <p:nvPr/>
        </p:nvSpPr>
        <p:spPr>
          <a:xfrm>
            <a:off x="6601968" y="2573655"/>
            <a:ext cx="109728" cy="109728"/>
          </a:xfrm>
          <a:prstGeom prst="ellipse">
            <a:avLst/>
          </a:prstGeom>
          <a:solidFill>
            <a:srgbClr val="0EA5A5"/>
          </a:solidFill>
          <a:ln w="12700">
            <a:solidFill>
              <a:srgbClr val="0EA5A5"/>
            </a:solidFill>
            <a:prstDash val="solid"/>
          </a:ln>
        </p:spPr>
        <p:txBody>
          <a:bodyPr/>
          <a:p/>
        </p:txBody>
      </p:sp>
      <p:sp>
        <p:nvSpPr>
          <p:cNvPr id="19" name="Text 17"/>
          <p:cNvSpPr/>
          <p:nvPr/>
        </p:nvSpPr>
        <p:spPr>
          <a:xfrm>
            <a:off x="6839712" y="246888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Solo-delivered end-to-end in under 2 months</a:t>
            </a:r>
            <a:endParaRPr lang="en-US" sz="1500" dirty="0"/>
          </a:p>
        </p:txBody>
      </p:sp>
      <p:sp>
        <p:nvSpPr>
          <p:cNvPr id="20" name="Shape 18"/>
          <p:cNvSpPr/>
          <p:nvPr/>
        </p:nvSpPr>
        <p:spPr>
          <a:xfrm>
            <a:off x="6601968" y="3350895"/>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324612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30+ user stories across backend, frontend, infra, observability, security</a:t>
            </a:r>
            <a:endParaRPr lang="en-US" sz="1500" dirty="0"/>
          </a:p>
        </p:txBody>
      </p:sp>
      <p:sp>
        <p:nvSpPr>
          <p:cNvPr id="22" name="Shape 20"/>
          <p:cNvSpPr/>
          <p:nvPr/>
        </p:nvSpPr>
        <p:spPr>
          <a:xfrm>
            <a:off x="6601968" y="4128135"/>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402336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Production live; written recognition from client and Infosys leadership</a:t>
            </a:r>
            <a:endParaRPr lang="en-US" sz="1500" dirty="0"/>
          </a:p>
        </p:txBody>
      </p:sp>
      <p:sp>
        <p:nvSpPr>
          <p:cNvPr id="24" name="Text 2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25" name="Text 2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My role, stakeholders &amp; scope</a:t>
            </a:r>
            <a:endParaRPr lang="en-US" sz="3000" dirty="0"/>
          </a:p>
        </p:txBody>
      </p:sp>
      <p:sp>
        <p:nvSpPr>
          <p:cNvPr id="4" name="Shape 2"/>
          <p:cNvSpPr/>
          <p:nvPr/>
        </p:nvSpPr>
        <p:spPr>
          <a:xfrm>
            <a:off x="548640" y="1554480"/>
            <a:ext cx="11064240" cy="105156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105156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691640"/>
            <a:ext cx="2194560" cy="36576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Role</a:t>
            </a:r>
            <a:endParaRPr lang="en-US" sz="1400" dirty="0"/>
          </a:p>
        </p:txBody>
      </p:sp>
      <p:sp>
        <p:nvSpPr>
          <p:cNvPr id="7" name="Text 5"/>
          <p:cNvSpPr/>
          <p:nvPr/>
        </p:nvSpPr>
        <p:spPr>
          <a:xfrm>
            <a:off x="777240" y="2057400"/>
            <a:ext cx="10698480" cy="50292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Onsite Development SPOC; absorbed the Business Analyst role</a:t>
            </a:r>
            <a:endParaRPr lang="en-US" sz="1500" dirty="0"/>
          </a:p>
        </p:txBody>
      </p:sp>
      <p:sp>
        <p:nvSpPr>
          <p:cNvPr id="8" name="Shape 6"/>
          <p:cNvSpPr/>
          <p:nvPr/>
        </p:nvSpPr>
        <p:spPr>
          <a:xfrm>
            <a:off x="548640" y="2788920"/>
            <a:ext cx="11064240" cy="1051560"/>
          </a:xfrm>
          <a:prstGeom prst="rect">
            <a:avLst/>
          </a:prstGeom>
          <a:solidFill>
            <a:srgbClr val="F8FAFC"/>
          </a:solidFill>
          <a:ln w="12700">
            <a:solidFill>
              <a:srgbClr val="E2E8F0"/>
            </a:solidFill>
            <a:prstDash val="solid"/>
          </a:ln>
        </p:spPr>
        <p:txBody>
          <a:bodyPr/>
          <a:p/>
        </p:txBody>
      </p:sp>
      <p:sp>
        <p:nvSpPr>
          <p:cNvPr id="9" name="Shape 7"/>
          <p:cNvSpPr/>
          <p:nvPr/>
        </p:nvSpPr>
        <p:spPr>
          <a:xfrm>
            <a:off x="548640" y="2788920"/>
            <a:ext cx="73152" cy="1051560"/>
          </a:xfrm>
          <a:prstGeom prst="rect">
            <a:avLst/>
          </a:prstGeom>
          <a:solidFill>
            <a:srgbClr val="0EA5A5"/>
          </a:solidFill>
          <a:ln w="12700">
            <a:solidFill>
              <a:srgbClr val="0EA5A5"/>
            </a:solidFill>
            <a:prstDash val="solid"/>
          </a:ln>
        </p:spPr>
        <p:txBody>
          <a:bodyPr/>
          <a:p/>
        </p:txBody>
      </p:sp>
      <p:sp>
        <p:nvSpPr>
          <p:cNvPr id="10" name="Text 8"/>
          <p:cNvSpPr/>
          <p:nvPr/>
        </p:nvSpPr>
        <p:spPr>
          <a:xfrm>
            <a:off x="777240" y="2926080"/>
            <a:ext cx="2194560" cy="36576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Stakeholders</a:t>
            </a:r>
            <a:endParaRPr lang="en-US" sz="1400" dirty="0"/>
          </a:p>
        </p:txBody>
      </p:sp>
      <p:sp>
        <p:nvSpPr>
          <p:cNvPr id="11" name="Text 9"/>
          <p:cNvSpPr/>
          <p:nvPr/>
        </p:nvSpPr>
        <p:spPr>
          <a:xfrm>
            <a:off x="777240" y="3291840"/>
            <a:ext cx="10698480" cy="50292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Telecom business owners, client architects, partner operations, Infosys delivery leadership, offshore pod on adjacent services</a:t>
            </a:r>
            <a:endParaRPr lang="en-US" sz="1500" dirty="0"/>
          </a:p>
        </p:txBody>
      </p:sp>
      <p:sp>
        <p:nvSpPr>
          <p:cNvPr id="12" name="Shape 10"/>
          <p:cNvSpPr/>
          <p:nvPr/>
        </p:nvSpPr>
        <p:spPr>
          <a:xfrm>
            <a:off x="548640" y="4023360"/>
            <a:ext cx="11064240" cy="1051560"/>
          </a:xfrm>
          <a:prstGeom prst="rect">
            <a:avLst/>
          </a:prstGeom>
          <a:solidFill>
            <a:srgbClr val="F8FAFC"/>
          </a:solidFill>
          <a:ln w="12700">
            <a:solidFill>
              <a:srgbClr val="E2E8F0"/>
            </a:solidFill>
            <a:prstDash val="solid"/>
          </a:ln>
        </p:spPr>
        <p:txBody>
          <a:bodyPr/>
          <a:p/>
        </p:txBody>
      </p:sp>
      <p:sp>
        <p:nvSpPr>
          <p:cNvPr id="13" name="Shape 11"/>
          <p:cNvSpPr/>
          <p:nvPr/>
        </p:nvSpPr>
        <p:spPr>
          <a:xfrm>
            <a:off x="548640" y="4023360"/>
            <a:ext cx="73152" cy="1051560"/>
          </a:xfrm>
          <a:prstGeom prst="rect">
            <a:avLst/>
          </a:prstGeom>
          <a:solidFill>
            <a:srgbClr val="0EA5A5"/>
          </a:solidFill>
          <a:ln w="12700">
            <a:solidFill>
              <a:srgbClr val="0EA5A5"/>
            </a:solidFill>
            <a:prstDash val="solid"/>
          </a:ln>
        </p:spPr>
        <p:txBody>
          <a:bodyPr/>
          <a:p/>
        </p:txBody>
      </p:sp>
      <p:sp>
        <p:nvSpPr>
          <p:cNvPr id="14" name="Text 12"/>
          <p:cNvSpPr/>
          <p:nvPr/>
        </p:nvSpPr>
        <p:spPr>
          <a:xfrm>
            <a:off x="777240" y="4160520"/>
            <a:ext cx="2194560" cy="36576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Scope owned</a:t>
            </a:r>
            <a:endParaRPr lang="en-US" sz="1400" dirty="0"/>
          </a:p>
        </p:txBody>
      </p:sp>
      <p:sp>
        <p:nvSpPr>
          <p:cNvPr id="15" name="Text 13"/>
          <p:cNvSpPr/>
          <p:nvPr/>
        </p:nvSpPr>
        <p:spPr>
          <a:xfrm>
            <a:off x="777240" y="4526280"/>
            <a:ext cx="10698480" cy="50292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Requirements elicitation → architecture → backend → frontend → IaC → observability → security → release → support handover</a:t>
            </a:r>
            <a:endParaRPr lang="en-US" sz="1500" dirty="0"/>
          </a:p>
        </p:txBody>
      </p:sp>
      <p:sp>
        <p:nvSpPr>
          <p:cNvPr id="16" name="Shape 14"/>
          <p:cNvSpPr/>
          <p:nvPr/>
        </p:nvSpPr>
        <p:spPr>
          <a:xfrm>
            <a:off x="548640" y="5257800"/>
            <a:ext cx="11064240" cy="1051560"/>
          </a:xfrm>
          <a:prstGeom prst="rect">
            <a:avLst/>
          </a:prstGeom>
          <a:solidFill>
            <a:srgbClr val="F8FAFC"/>
          </a:solidFill>
          <a:ln w="12700">
            <a:solidFill>
              <a:srgbClr val="E2E8F0"/>
            </a:solidFill>
            <a:prstDash val="solid"/>
          </a:ln>
        </p:spPr>
        <p:txBody>
          <a:bodyPr/>
          <a:p/>
        </p:txBody>
      </p:sp>
      <p:sp>
        <p:nvSpPr>
          <p:cNvPr id="17" name="Shape 15"/>
          <p:cNvSpPr/>
          <p:nvPr/>
        </p:nvSpPr>
        <p:spPr>
          <a:xfrm>
            <a:off x="548640" y="5257800"/>
            <a:ext cx="73152" cy="1051560"/>
          </a:xfrm>
          <a:prstGeom prst="rect">
            <a:avLst/>
          </a:prstGeom>
          <a:solidFill>
            <a:srgbClr val="0EA5A5"/>
          </a:solidFill>
          <a:ln w="12700">
            <a:solidFill>
              <a:srgbClr val="0EA5A5"/>
            </a:solidFill>
            <a:prstDash val="solid"/>
          </a:ln>
        </p:spPr>
        <p:txBody>
          <a:bodyPr/>
          <a:p/>
        </p:txBody>
      </p:sp>
      <p:sp>
        <p:nvSpPr>
          <p:cNvPr id="18" name="Text 16"/>
          <p:cNvSpPr/>
          <p:nvPr/>
        </p:nvSpPr>
        <p:spPr>
          <a:xfrm>
            <a:off x="777240" y="5394960"/>
            <a:ext cx="2194560" cy="365760"/>
          </a:xfrm>
          <a:prstGeom prst="rect">
            <a:avLst/>
          </a:prstGeom>
          <a:noFill/>
          <a:ln/>
        </p:spPr>
        <p:txBody>
          <a:bodyPr wrap="square" lIns="0" tIns="0" rIns="0" bIns="0" rtlCol="0" anchor="t"/>
          <a:lstStyle/>
          <a:p>
            <a:pPr indent="0" marL="0">
              <a:buNone/>
            </a:pPr>
            <a:r>
              <a:rPr lang="en-US" sz="1400" b="1" dirty="0">
                <a:solidFill>
                  <a:srgbClr val="0891B2"/>
                </a:solidFill>
                <a:latin typeface="Calibri" pitchFamily="34" charset="0"/>
                <a:ea typeface="Calibri" pitchFamily="34" charset="-122"/>
                <a:cs typeface="Calibri" pitchFamily="34" charset="-120"/>
              </a:rPr>
              <a:t>What changed for me</a:t>
            </a:r>
            <a:endParaRPr lang="en-US" sz="1400" dirty="0"/>
          </a:p>
        </p:txBody>
      </p:sp>
      <p:sp>
        <p:nvSpPr>
          <p:cNvPr id="19" name="Text 17"/>
          <p:cNvSpPr/>
          <p:nvPr/>
        </p:nvSpPr>
        <p:spPr>
          <a:xfrm>
            <a:off x="777240" y="5760720"/>
            <a:ext cx="10698480" cy="50292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Shifted from 'ticket-taker' to 'platform owner' mid-project</a:t>
            </a:r>
            <a:endParaRPr lang="en-US" sz="1500" dirty="0"/>
          </a:p>
        </p:txBody>
      </p:sp>
      <p:sp>
        <p:nvSpPr>
          <p:cNvPr id="20" name="Text 1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21" name="Text 1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Architecture overview</a:t>
            </a:r>
            <a:endParaRPr lang="en-US" sz="3000" dirty="0"/>
          </a:p>
        </p:txBody>
      </p:sp>
      <p:sp>
        <p:nvSpPr>
          <p:cNvPr id="4" name="Shape 2"/>
          <p:cNvSpPr/>
          <p:nvPr/>
        </p:nvSpPr>
        <p:spPr>
          <a:xfrm>
            <a:off x="3040380" y="1417320"/>
            <a:ext cx="1783080" cy="594360"/>
          </a:xfrm>
          <a:prstGeom prst="rect">
            <a:avLst/>
          </a:prstGeom>
          <a:solidFill>
            <a:srgbClr val="F8FAFC"/>
          </a:solidFill>
          <a:ln w="15875">
            <a:solidFill>
              <a:srgbClr val="0EA5A5"/>
            </a:solidFill>
            <a:prstDash val="solid"/>
          </a:ln>
        </p:spPr>
        <p:txBody>
          <a:bodyPr/>
          <a:p/>
        </p:txBody>
      </p:sp>
      <p:sp>
        <p:nvSpPr>
          <p:cNvPr id="5" name="Text 3"/>
          <p:cNvSpPr/>
          <p:nvPr/>
        </p:nvSpPr>
        <p:spPr>
          <a:xfrm>
            <a:off x="3086100" y="1472184"/>
            <a:ext cx="1691640" cy="50292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Partner Browser</a:t>
            </a:r>
            <a:endParaRPr lang="en-US" sz="1150" dirty="0"/>
          </a:p>
        </p:txBody>
      </p:sp>
      <p:sp>
        <p:nvSpPr>
          <p:cNvPr id="6" name="Shape 4"/>
          <p:cNvSpPr/>
          <p:nvPr/>
        </p:nvSpPr>
        <p:spPr>
          <a:xfrm>
            <a:off x="4823460" y="1714500"/>
            <a:ext cx="365760" cy="0"/>
          </a:xfrm>
          <a:prstGeom prst="line">
            <a:avLst/>
          </a:prstGeom>
          <a:noFill/>
          <a:ln w="15875">
            <a:solidFill>
              <a:srgbClr val="64748B"/>
            </a:solidFill>
            <a:prstDash val="solid"/>
            <a:tailEnd type="triangle"/>
          </a:ln>
        </p:spPr>
        <p:txBody>
          <a:bodyPr/>
          <a:p/>
        </p:txBody>
      </p:sp>
      <p:sp>
        <p:nvSpPr>
          <p:cNvPr id="7" name="Shape 5"/>
          <p:cNvSpPr/>
          <p:nvPr/>
        </p:nvSpPr>
        <p:spPr>
          <a:xfrm>
            <a:off x="5189220" y="1417320"/>
            <a:ext cx="1783080" cy="594360"/>
          </a:xfrm>
          <a:prstGeom prst="rect">
            <a:avLst/>
          </a:prstGeom>
          <a:solidFill>
            <a:srgbClr val="F8FAFC"/>
          </a:solidFill>
          <a:ln w="15875">
            <a:solidFill>
              <a:srgbClr val="0EA5A5"/>
            </a:solidFill>
            <a:prstDash val="solid"/>
          </a:ln>
        </p:spPr>
        <p:txBody>
          <a:bodyPr/>
          <a:p/>
        </p:txBody>
      </p:sp>
      <p:sp>
        <p:nvSpPr>
          <p:cNvPr id="8" name="Text 6"/>
          <p:cNvSpPr/>
          <p:nvPr/>
        </p:nvSpPr>
        <p:spPr>
          <a:xfrm>
            <a:off x="5234940" y="1472184"/>
            <a:ext cx="1691640" cy="50292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Route 53 / CloudFront</a:t>
            </a:r>
            <a:endParaRPr lang="en-US" sz="1150" dirty="0"/>
          </a:p>
        </p:txBody>
      </p:sp>
      <p:sp>
        <p:nvSpPr>
          <p:cNvPr id="9" name="Shape 7"/>
          <p:cNvSpPr/>
          <p:nvPr/>
        </p:nvSpPr>
        <p:spPr>
          <a:xfrm>
            <a:off x="6972300" y="1714500"/>
            <a:ext cx="365760" cy="0"/>
          </a:xfrm>
          <a:prstGeom prst="line">
            <a:avLst/>
          </a:prstGeom>
          <a:noFill/>
          <a:ln w="15875">
            <a:solidFill>
              <a:srgbClr val="64748B"/>
            </a:solidFill>
            <a:prstDash val="solid"/>
            <a:tailEnd type="triangle"/>
          </a:ln>
        </p:spPr>
        <p:txBody>
          <a:bodyPr/>
          <a:p/>
        </p:txBody>
      </p:sp>
      <p:sp>
        <p:nvSpPr>
          <p:cNvPr id="10" name="Shape 8"/>
          <p:cNvSpPr/>
          <p:nvPr/>
        </p:nvSpPr>
        <p:spPr>
          <a:xfrm>
            <a:off x="7338060" y="1417320"/>
            <a:ext cx="1783080" cy="594360"/>
          </a:xfrm>
          <a:prstGeom prst="rect">
            <a:avLst/>
          </a:prstGeom>
          <a:solidFill>
            <a:srgbClr val="F8FAFC"/>
          </a:solidFill>
          <a:ln w="15875">
            <a:solidFill>
              <a:srgbClr val="0EA5A5"/>
            </a:solidFill>
            <a:prstDash val="solid"/>
          </a:ln>
        </p:spPr>
        <p:txBody>
          <a:bodyPr/>
          <a:p/>
        </p:txBody>
      </p:sp>
      <p:sp>
        <p:nvSpPr>
          <p:cNvPr id="11" name="Text 9"/>
          <p:cNvSpPr/>
          <p:nvPr/>
        </p:nvSpPr>
        <p:spPr>
          <a:xfrm>
            <a:off x="7383780" y="1472184"/>
            <a:ext cx="1691640" cy="50292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AWS WAF</a:t>
            </a:r>
            <a:endParaRPr lang="en-US" sz="1150" dirty="0"/>
          </a:p>
        </p:txBody>
      </p:sp>
      <p:sp>
        <p:nvSpPr>
          <p:cNvPr id="12" name="Shape 10"/>
          <p:cNvSpPr/>
          <p:nvPr/>
        </p:nvSpPr>
        <p:spPr>
          <a:xfrm>
            <a:off x="1737360" y="2514600"/>
            <a:ext cx="2011680" cy="960120"/>
          </a:xfrm>
          <a:prstGeom prst="rect">
            <a:avLst/>
          </a:prstGeom>
          <a:solidFill>
            <a:srgbClr val="F8FAFC"/>
          </a:solidFill>
          <a:ln w="15875">
            <a:solidFill>
              <a:srgbClr val="0EA5A5"/>
            </a:solidFill>
            <a:prstDash val="solid"/>
          </a:ln>
        </p:spPr>
        <p:txBody>
          <a:bodyPr/>
          <a:p/>
        </p:txBody>
      </p:sp>
      <p:sp>
        <p:nvSpPr>
          <p:cNvPr id="13" name="Text 11"/>
          <p:cNvSpPr/>
          <p:nvPr/>
        </p:nvSpPr>
        <p:spPr>
          <a:xfrm>
            <a:off x="1783080" y="2569464"/>
            <a:ext cx="1920240" cy="52806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Angular UI</a:t>
            </a:r>
            <a:endParaRPr lang="en-US" sz="1150" dirty="0"/>
          </a:p>
        </p:txBody>
      </p:sp>
      <p:sp>
        <p:nvSpPr>
          <p:cNvPr id="14" name="Text 12"/>
          <p:cNvSpPr/>
          <p:nvPr/>
        </p:nvSpPr>
        <p:spPr>
          <a:xfrm>
            <a:off x="1783080" y="3042666"/>
            <a:ext cx="1920240" cy="38404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ECS Fargate (container)</a:t>
            </a:r>
            <a:endParaRPr lang="en-US" sz="950" dirty="0"/>
          </a:p>
        </p:txBody>
      </p:sp>
      <p:sp>
        <p:nvSpPr>
          <p:cNvPr id="15" name="Shape 13"/>
          <p:cNvSpPr/>
          <p:nvPr/>
        </p:nvSpPr>
        <p:spPr>
          <a:xfrm>
            <a:off x="4160520" y="2514600"/>
            <a:ext cx="3291840" cy="960120"/>
          </a:xfrm>
          <a:prstGeom prst="rect">
            <a:avLst/>
          </a:prstGeom>
          <a:solidFill>
            <a:srgbClr val="ECFEFF"/>
          </a:solidFill>
          <a:ln w="15875">
            <a:solidFill>
              <a:srgbClr val="0891B2"/>
            </a:solidFill>
            <a:prstDash val="solid"/>
          </a:ln>
        </p:spPr>
        <p:txBody>
          <a:bodyPr/>
          <a:p/>
        </p:txBody>
      </p:sp>
      <p:sp>
        <p:nvSpPr>
          <p:cNvPr id="16" name="Text 14"/>
          <p:cNvSpPr/>
          <p:nvPr/>
        </p:nvSpPr>
        <p:spPr>
          <a:xfrm>
            <a:off x="4206240" y="2569464"/>
            <a:ext cx="3200400" cy="52806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3 × Quarkus Lambdas</a:t>
            </a:r>
            <a:endParaRPr lang="en-US" sz="1150" dirty="0"/>
          </a:p>
        </p:txBody>
      </p:sp>
      <p:sp>
        <p:nvSpPr>
          <p:cNvPr id="17" name="Text 15"/>
          <p:cNvSpPr/>
          <p:nvPr/>
        </p:nvSpPr>
        <p:spPr>
          <a:xfrm>
            <a:off x="4206240" y="3042666"/>
            <a:ext cx="3200400" cy="38404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one per downstream integration  ·  A · B · C</a:t>
            </a:r>
            <a:endParaRPr lang="en-US" sz="950" dirty="0"/>
          </a:p>
        </p:txBody>
      </p:sp>
      <p:sp>
        <p:nvSpPr>
          <p:cNvPr id="18" name="Shape 16"/>
          <p:cNvSpPr/>
          <p:nvPr/>
        </p:nvSpPr>
        <p:spPr>
          <a:xfrm>
            <a:off x="7863840" y="2514600"/>
            <a:ext cx="2560320" cy="960120"/>
          </a:xfrm>
          <a:prstGeom prst="rect">
            <a:avLst/>
          </a:prstGeom>
          <a:solidFill>
            <a:srgbClr val="F8FAFC"/>
          </a:solidFill>
          <a:ln w="15875">
            <a:solidFill>
              <a:srgbClr val="0EA5A5"/>
            </a:solidFill>
            <a:prstDash val="solid"/>
          </a:ln>
        </p:spPr>
        <p:txBody>
          <a:bodyPr/>
          <a:p/>
        </p:txBody>
      </p:sp>
      <p:sp>
        <p:nvSpPr>
          <p:cNvPr id="19" name="Text 17"/>
          <p:cNvSpPr/>
          <p:nvPr/>
        </p:nvSpPr>
        <p:spPr>
          <a:xfrm>
            <a:off x="7909560" y="2569464"/>
            <a:ext cx="2468880" cy="52806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Downstream Telecom</a:t>
            </a:r>
            <a:endParaRPr lang="en-US" sz="1150" dirty="0"/>
          </a:p>
        </p:txBody>
      </p:sp>
      <p:sp>
        <p:nvSpPr>
          <p:cNvPr id="20" name="Text 18"/>
          <p:cNvSpPr/>
          <p:nvPr/>
        </p:nvSpPr>
        <p:spPr>
          <a:xfrm>
            <a:off x="7909560" y="3042666"/>
            <a:ext cx="2468880" cy="38404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Systems A · B · C  (×3)</a:t>
            </a:r>
            <a:endParaRPr lang="en-US" sz="950" dirty="0"/>
          </a:p>
        </p:txBody>
      </p:sp>
      <p:sp>
        <p:nvSpPr>
          <p:cNvPr id="21" name="Shape 19"/>
          <p:cNvSpPr/>
          <p:nvPr/>
        </p:nvSpPr>
        <p:spPr>
          <a:xfrm>
            <a:off x="3749040" y="2994660"/>
            <a:ext cx="411480" cy="0"/>
          </a:xfrm>
          <a:prstGeom prst="line">
            <a:avLst/>
          </a:prstGeom>
          <a:noFill/>
          <a:ln w="15875">
            <a:solidFill>
              <a:srgbClr val="64748B"/>
            </a:solidFill>
            <a:prstDash val="solid"/>
            <a:tailEnd type="triangle"/>
          </a:ln>
        </p:spPr>
        <p:txBody>
          <a:bodyPr/>
          <a:p/>
        </p:txBody>
      </p:sp>
      <p:sp>
        <p:nvSpPr>
          <p:cNvPr id="22" name="Shape 20"/>
          <p:cNvSpPr/>
          <p:nvPr/>
        </p:nvSpPr>
        <p:spPr>
          <a:xfrm>
            <a:off x="7452360" y="2994660"/>
            <a:ext cx="411480" cy="0"/>
          </a:xfrm>
          <a:prstGeom prst="line">
            <a:avLst/>
          </a:prstGeom>
          <a:noFill/>
          <a:ln w="15875">
            <a:solidFill>
              <a:srgbClr val="64748B"/>
            </a:solidFill>
            <a:prstDash val="solid"/>
            <a:tailEnd type="triangle"/>
          </a:ln>
        </p:spPr>
        <p:txBody>
          <a:bodyPr/>
          <a:p/>
        </p:txBody>
      </p:sp>
      <p:sp>
        <p:nvSpPr>
          <p:cNvPr id="23" name="Shape 21"/>
          <p:cNvSpPr/>
          <p:nvPr/>
        </p:nvSpPr>
        <p:spPr>
          <a:xfrm>
            <a:off x="8229600" y="2011680"/>
            <a:ext cx="-2423160" cy="502920"/>
          </a:xfrm>
          <a:prstGeom prst="line">
            <a:avLst/>
          </a:prstGeom>
          <a:noFill/>
          <a:ln w="15875">
            <a:solidFill>
              <a:srgbClr val="64748B"/>
            </a:solidFill>
            <a:prstDash val="solid"/>
            <a:tailEnd type="triangle"/>
          </a:ln>
        </p:spPr>
        <p:txBody>
          <a:bodyPr/>
          <a:p/>
        </p:txBody>
      </p:sp>
      <p:sp>
        <p:nvSpPr>
          <p:cNvPr id="24" name="Shape 22"/>
          <p:cNvSpPr/>
          <p:nvPr/>
        </p:nvSpPr>
        <p:spPr>
          <a:xfrm>
            <a:off x="1691640" y="4069080"/>
            <a:ext cx="2286000" cy="868680"/>
          </a:xfrm>
          <a:prstGeom prst="rect">
            <a:avLst/>
          </a:prstGeom>
          <a:solidFill>
            <a:srgbClr val="F8FAFC"/>
          </a:solidFill>
          <a:ln w="15875">
            <a:solidFill>
              <a:srgbClr val="0EA5A5"/>
            </a:solidFill>
            <a:prstDash val="solid"/>
          </a:ln>
        </p:spPr>
        <p:txBody>
          <a:bodyPr/>
          <a:p/>
        </p:txBody>
      </p:sp>
      <p:sp>
        <p:nvSpPr>
          <p:cNvPr id="25" name="Text 23"/>
          <p:cNvSpPr/>
          <p:nvPr/>
        </p:nvSpPr>
        <p:spPr>
          <a:xfrm>
            <a:off x="1737360" y="4123944"/>
            <a:ext cx="2194560" cy="477774"/>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DynamoDB</a:t>
            </a:r>
            <a:endParaRPr lang="en-US" sz="1150" dirty="0"/>
          </a:p>
        </p:txBody>
      </p:sp>
      <p:sp>
        <p:nvSpPr>
          <p:cNvPr id="26" name="Text 24"/>
          <p:cNvSpPr/>
          <p:nvPr/>
        </p:nvSpPr>
        <p:spPr>
          <a:xfrm>
            <a:off x="1737360" y="4546854"/>
            <a:ext cx="2194560"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System of record</a:t>
            </a:r>
            <a:endParaRPr lang="en-US" sz="950" dirty="0"/>
          </a:p>
        </p:txBody>
      </p:sp>
      <p:sp>
        <p:nvSpPr>
          <p:cNvPr id="27" name="Shape 25"/>
          <p:cNvSpPr/>
          <p:nvPr/>
        </p:nvSpPr>
        <p:spPr>
          <a:xfrm>
            <a:off x="4892040" y="4069080"/>
            <a:ext cx="2377440" cy="868680"/>
          </a:xfrm>
          <a:prstGeom prst="rect">
            <a:avLst/>
          </a:prstGeom>
          <a:solidFill>
            <a:srgbClr val="F8FAFC"/>
          </a:solidFill>
          <a:ln w="15875">
            <a:solidFill>
              <a:srgbClr val="0EA5A5"/>
            </a:solidFill>
            <a:prstDash val="solid"/>
          </a:ln>
        </p:spPr>
        <p:txBody>
          <a:bodyPr/>
          <a:p/>
        </p:txBody>
      </p:sp>
      <p:sp>
        <p:nvSpPr>
          <p:cNvPr id="28" name="Text 26"/>
          <p:cNvSpPr/>
          <p:nvPr/>
        </p:nvSpPr>
        <p:spPr>
          <a:xfrm>
            <a:off x="4937760" y="4123944"/>
            <a:ext cx="2286000" cy="477774"/>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OSIS · OpenSearch Ingestion Service</a:t>
            </a:r>
            <a:endParaRPr lang="en-US" sz="1150" dirty="0"/>
          </a:p>
        </p:txBody>
      </p:sp>
      <p:sp>
        <p:nvSpPr>
          <p:cNvPr id="29" name="Text 27"/>
          <p:cNvSpPr/>
          <p:nvPr/>
        </p:nvSpPr>
        <p:spPr>
          <a:xfrm>
            <a:off x="4937760" y="4546854"/>
            <a:ext cx="2286000"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DynamoDB CDC streams</a:t>
            </a:r>
            <a:endParaRPr lang="en-US" sz="950" dirty="0"/>
          </a:p>
        </p:txBody>
      </p:sp>
      <p:sp>
        <p:nvSpPr>
          <p:cNvPr id="30" name="Shape 28"/>
          <p:cNvSpPr/>
          <p:nvPr/>
        </p:nvSpPr>
        <p:spPr>
          <a:xfrm>
            <a:off x="8183880" y="4069080"/>
            <a:ext cx="2286000" cy="868680"/>
          </a:xfrm>
          <a:prstGeom prst="rect">
            <a:avLst/>
          </a:prstGeom>
          <a:solidFill>
            <a:srgbClr val="F8FAFC"/>
          </a:solidFill>
          <a:ln w="15875">
            <a:solidFill>
              <a:srgbClr val="0EA5A5"/>
            </a:solidFill>
            <a:prstDash val="solid"/>
          </a:ln>
        </p:spPr>
        <p:txBody>
          <a:bodyPr/>
          <a:p/>
        </p:txBody>
      </p:sp>
      <p:sp>
        <p:nvSpPr>
          <p:cNvPr id="31" name="Text 29"/>
          <p:cNvSpPr/>
          <p:nvPr/>
        </p:nvSpPr>
        <p:spPr>
          <a:xfrm>
            <a:off x="8229600" y="4123944"/>
            <a:ext cx="2194560" cy="477774"/>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OpenSearch</a:t>
            </a:r>
            <a:endParaRPr lang="en-US" sz="1150" dirty="0"/>
          </a:p>
        </p:txBody>
      </p:sp>
      <p:sp>
        <p:nvSpPr>
          <p:cNvPr id="32" name="Text 30"/>
          <p:cNvSpPr/>
          <p:nvPr/>
        </p:nvSpPr>
        <p:spPr>
          <a:xfrm>
            <a:off x="8229600" y="4546854"/>
            <a:ext cx="2194560"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Faceted search</a:t>
            </a:r>
            <a:endParaRPr lang="en-US" sz="950" dirty="0"/>
          </a:p>
        </p:txBody>
      </p:sp>
      <p:sp>
        <p:nvSpPr>
          <p:cNvPr id="33" name="Shape 31"/>
          <p:cNvSpPr/>
          <p:nvPr/>
        </p:nvSpPr>
        <p:spPr>
          <a:xfrm>
            <a:off x="5312664" y="3474720"/>
            <a:ext cx="-2478024" cy="594360"/>
          </a:xfrm>
          <a:prstGeom prst="line">
            <a:avLst/>
          </a:prstGeom>
          <a:noFill/>
          <a:ln w="15875">
            <a:solidFill>
              <a:srgbClr val="64748B"/>
            </a:solidFill>
            <a:prstDash val="solid"/>
            <a:tailEnd type="triangle"/>
          </a:ln>
        </p:spPr>
        <p:txBody>
          <a:bodyPr/>
          <a:p/>
        </p:txBody>
      </p:sp>
      <p:sp>
        <p:nvSpPr>
          <p:cNvPr id="34" name="Shape 32"/>
          <p:cNvSpPr/>
          <p:nvPr/>
        </p:nvSpPr>
        <p:spPr>
          <a:xfrm>
            <a:off x="6300216" y="3474720"/>
            <a:ext cx="3026664" cy="594360"/>
          </a:xfrm>
          <a:prstGeom prst="line">
            <a:avLst/>
          </a:prstGeom>
          <a:noFill/>
          <a:ln w="15875">
            <a:solidFill>
              <a:srgbClr val="64748B"/>
            </a:solidFill>
            <a:prstDash val="solid"/>
            <a:tailEnd type="triangle"/>
          </a:ln>
        </p:spPr>
        <p:txBody>
          <a:bodyPr/>
          <a:p/>
        </p:txBody>
      </p:sp>
      <p:sp>
        <p:nvSpPr>
          <p:cNvPr id="35" name="Shape 33"/>
          <p:cNvSpPr/>
          <p:nvPr/>
        </p:nvSpPr>
        <p:spPr>
          <a:xfrm>
            <a:off x="3977640" y="4503420"/>
            <a:ext cx="914400" cy="0"/>
          </a:xfrm>
          <a:prstGeom prst="line">
            <a:avLst/>
          </a:prstGeom>
          <a:noFill/>
          <a:ln w="15875">
            <a:solidFill>
              <a:srgbClr val="64748B"/>
            </a:solidFill>
            <a:prstDash val="solid"/>
            <a:tailEnd type="triangle"/>
          </a:ln>
        </p:spPr>
        <p:txBody>
          <a:bodyPr/>
          <a:p/>
        </p:txBody>
      </p:sp>
      <p:sp>
        <p:nvSpPr>
          <p:cNvPr id="36" name="Text 34"/>
          <p:cNvSpPr/>
          <p:nvPr/>
        </p:nvSpPr>
        <p:spPr>
          <a:xfrm>
            <a:off x="3931920" y="4229100"/>
            <a:ext cx="1005840" cy="219456"/>
          </a:xfrm>
          <a:prstGeom prst="rect">
            <a:avLst/>
          </a:prstGeom>
          <a:noFill/>
          <a:ln/>
        </p:spPr>
        <p:txBody>
          <a:bodyPr wrap="square" lIns="0" tIns="0" rIns="0" bIns="0" rtlCol="0" anchor="ctr"/>
          <a:lstStyle/>
          <a:p>
            <a:pPr algn="ctr" indent="0" marL="0">
              <a:buNone/>
            </a:pPr>
            <a:r>
              <a:rPr lang="en-US" sz="900" i="1" dirty="0">
                <a:solidFill>
                  <a:srgbClr val="0891B2"/>
                </a:solidFill>
                <a:latin typeface="Calibri" pitchFamily="34" charset="0"/>
                <a:ea typeface="Calibri" pitchFamily="34" charset="-122"/>
                <a:cs typeface="Calibri" pitchFamily="34" charset="-120"/>
              </a:rPr>
              <a:t>DynamoDB CDC</a:t>
            </a:r>
            <a:endParaRPr lang="en-US" sz="900" dirty="0"/>
          </a:p>
        </p:txBody>
      </p:sp>
      <p:sp>
        <p:nvSpPr>
          <p:cNvPr id="37" name="Shape 35"/>
          <p:cNvSpPr/>
          <p:nvPr/>
        </p:nvSpPr>
        <p:spPr>
          <a:xfrm>
            <a:off x="7269480" y="4503420"/>
            <a:ext cx="914400" cy="0"/>
          </a:xfrm>
          <a:prstGeom prst="line">
            <a:avLst/>
          </a:prstGeom>
          <a:noFill/>
          <a:ln w="15875">
            <a:solidFill>
              <a:srgbClr val="64748B"/>
            </a:solidFill>
            <a:prstDash val="solid"/>
            <a:tailEnd type="triangle"/>
          </a:ln>
        </p:spPr>
        <p:txBody>
          <a:bodyPr/>
          <a:p/>
        </p:txBody>
      </p:sp>
      <p:sp>
        <p:nvSpPr>
          <p:cNvPr id="38" name="Text 36"/>
          <p:cNvSpPr/>
          <p:nvPr/>
        </p:nvSpPr>
        <p:spPr>
          <a:xfrm>
            <a:off x="7223760" y="4229100"/>
            <a:ext cx="1005840" cy="219456"/>
          </a:xfrm>
          <a:prstGeom prst="rect">
            <a:avLst/>
          </a:prstGeom>
          <a:noFill/>
          <a:ln/>
        </p:spPr>
        <p:txBody>
          <a:bodyPr wrap="square" lIns="0" tIns="0" rIns="0" bIns="0" rtlCol="0" anchor="ctr"/>
          <a:lstStyle/>
          <a:p>
            <a:pPr algn="ctr" indent="0" marL="0">
              <a:buNone/>
            </a:pPr>
            <a:r>
              <a:rPr lang="en-US" sz="900" i="1" dirty="0">
                <a:solidFill>
                  <a:srgbClr val="0891B2"/>
                </a:solidFill>
                <a:latin typeface="Calibri" pitchFamily="34" charset="0"/>
                <a:ea typeface="Calibri" pitchFamily="34" charset="-122"/>
                <a:cs typeface="Calibri" pitchFamily="34" charset="-120"/>
              </a:rPr>
              <a:t>Index writes</a:t>
            </a:r>
            <a:endParaRPr lang="en-US" sz="900" dirty="0"/>
          </a:p>
        </p:txBody>
      </p:sp>
      <p:sp>
        <p:nvSpPr>
          <p:cNvPr id="39" name="Shape 37"/>
          <p:cNvSpPr/>
          <p:nvPr/>
        </p:nvSpPr>
        <p:spPr>
          <a:xfrm>
            <a:off x="502920" y="5486400"/>
            <a:ext cx="5532120" cy="777240"/>
          </a:xfrm>
          <a:prstGeom prst="rect">
            <a:avLst/>
          </a:prstGeom>
          <a:solidFill>
            <a:srgbClr val="F8FAFC"/>
          </a:solidFill>
          <a:ln w="15875">
            <a:solidFill>
              <a:srgbClr val="0EA5A5"/>
            </a:solidFill>
            <a:prstDash val="solid"/>
          </a:ln>
        </p:spPr>
        <p:txBody>
          <a:bodyPr/>
          <a:p/>
        </p:txBody>
      </p:sp>
      <p:sp>
        <p:nvSpPr>
          <p:cNvPr id="40" name="Text 38"/>
          <p:cNvSpPr/>
          <p:nvPr/>
        </p:nvSpPr>
        <p:spPr>
          <a:xfrm>
            <a:off x="548640" y="5541264"/>
            <a:ext cx="5440680" cy="42748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Observability: Dynatrace + Splunk</a:t>
            </a:r>
            <a:endParaRPr lang="en-US" sz="1150" dirty="0"/>
          </a:p>
        </p:txBody>
      </p:sp>
      <p:sp>
        <p:nvSpPr>
          <p:cNvPr id="41" name="Text 39"/>
          <p:cNvSpPr/>
          <p:nvPr/>
        </p:nvSpPr>
        <p:spPr>
          <a:xfrm>
            <a:off x="548640" y="5913882"/>
            <a:ext cx="5440680"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Traces · Logs · Metrics · Correlation IDs</a:t>
            </a:r>
            <a:endParaRPr lang="en-US" sz="950" dirty="0"/>
          </a:p>
        </p:txBody>
      </p:sp>
      <p:sp>
        <p:nvSpPr>
          <p:cNvPr id="42" name="Shape 40"/>
          <p:cNvSpPr/>
          <p:nvPr/>
        </p:nvSpPr>
        <p:spPr>
          <a:xfrm>
            <a:off x="6263640" y="5486400"/>
            <a:ext cx="5486400" cy="777240"/>
          </a:xfrm>
          <a:prstGeom prst="rect">
            <a:avLst/>
          </a:prstGeom>
          <a:solidFill>
            <a:srgbClr val="F8FAFC"/>
          </a:solidFill>
          <a:ln w="15875">
            <a:solidFill>
              <a:srgbClr val="0EA5A5"/>
            </a:solidFill>
            <a:prstDash val="solid"/>
          </a:ln>
        </p:spPr>
        <p:txBody>
          <a:bodyPr/>
          <a:p/>
        </p:txBody>
      </p:sp>
      <p:sp>
        <p:nvSpPr>
          <p:cNvPr id="43" name="Text 41"/>
          <p:cNvSpPr/>
          <p:nvPr/>
        </p:nvSpPr>
        <p:spPr>
          <a:xfrm>
            <a:off x="6309360" y="5541264"/>
            <a:ext cx="5394960" cy="42748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Auth: Okta (OIDC) — UI auth</a:t>
            </a:r>
            <a:endParaRPr lang="en-US" sz="1150" dirty="0"/>
          </a:p>
        </p:txBody>
      </p:sp>
      <p:sp>
        <p:nvSpPr>
          <p:cNvPr id="44" name="Text 42"/>
          <p:cNvSpPr/>
          <p:nvPr/>
        </p:nvSpPr>
        <p:spPr>
          <a:xfrm>
            <a:off x="6309360" y="5913882"/>
            <a:ext cx="5394960"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SSO · Scoped tokens · RBAC groups</a:t>
            </a:r>
            <a:endParaRPr lang="en-US" sz="950" dirty="0"/>
          </a:p>
        </p:txBody>
      </p:sp>
      <p:sp>
        <p:nvSpPr>
          <p:cNvPr id="45" name="Text 4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46" name="Text 4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Tech stack &amp; key decisions</a:t>
            </a:r>
            <a:endParaRPr lang="en-US" sz="3000" dirty="0"/>
          </a:p>
        </p:txBody>
      </p:sp>
      <p:sp>
        <p:nvSpPr>
          <p:cNvPr id="4" name="Shape 2"/>
          <p:cNvSpPr/>
          <p:nvPr/>
        </p:nvSpPr>
        <p:spPr>
          <a:xfrm>
            <a:off x="502920" y="1554480"/>
            <a:ext cx="36576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0292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828800"/>
            <a:ext cx="3200400" cy="91440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Quarkus over Spring Boot</a:t>
            </a:r>
            <a:endParaRPr lang="en-US" sz="1700" dirty="0"/>
          </a:p>
        </p:txBody>
      </p:sp>
      <p:sp>
        <p:nvSpPr>
          <p:cNvPr id="7" name="Text 5"/>
          <p:cNvSpPr/>
          <p:nvPr/>
        </p:nvSpPr>
        <p:spPr>
          <a:xfrm>
            <a:off x="777240" y="292608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777240" y="3246120"/>
            <a:ext cx="3200400" cy="137160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Quarkus' fast cold-start and low memory footprint were tailored for AWS Lambda — Spring Boot would have struggled on cold starts; native-image option gave us further headroom</a:t>
            </a:r>
            <a:endParaRPr lang="en-US" sz="1400" dirty="0"/>
          </a:p>
        </p:txBody>
      </p:sp>
      <p:sp>
        <p:nvSpPr>
          <p:cNvPr id="9" name="Text 7"/>
          <p:cNvSpPr/>
          <p:nvPr/>
        </p:nvSpPr>
        <p:spPr>
          <a:xfrm>
            <a:off x="777240" y="466344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Trade-off accepted</a:t>
            </a:r>
            <a:endParaRPr lang="en-US" sz="1200" dirty="0"/>
          </a:p>
        </p:txBody>
      </p:sp>
      <p:sp>
        <p:nvSpPr>
          <p:cNvPr id="10" name="Text 8"/>
          <p:cNvSpPr/>
          <p:nvPr/>
        </p:nvSpPr>
        <p:spPr>
          <a:xfrm>
            <a:off x="777240" y="498348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Smaller ecosystem; mitigated by mature extensions (RESTEasy Reactive, Hibernate Panache, SmallRye)</a:t>
            </a:r>
            <a:endParaRPr lang="en-US" sz="1400" dirty="0"/>
          </a:p>
        </p:txBody>
      </p:sp>
      <p:sp>
        <p:nvSpPr>
          <p:cNvPr id="11" name="Shape 9"/>
          <p:cNvSpPr/>
          <p:nvPr/>
        </p:nvSpPr>
        <p:spPr>
          <a:xfrm>
            <a:off x="4389120" y="1554480"/>
            <a:ext cx="3657600" cy="4572000"/>
          </a:xfrm>
          <a:prstGeom prst="rect">
            <a:avLst/>
          </a:prstGeom>
          <a:solidFill>
            <a:srgbClr val="F8FAFC"/>
          </a:solidFill>
          <a:ln w="12700">
            <a:solidFill>
              <a:srgbClr val="E2E8F0"/>
            </a:solidFill>
            <a:prstDash val="solid"/>
          </a:ln>
        </p:spPr>
        <p:txBody>
          <a:bodyPr/>
          <a:p/>
        </p:txBody>
      </p:sp>
      <p:sp>
        <p:nvSpPr>
          <p:cNvPr id="12" name="Shape 10"/>
          <p:cNvSpPr/>
          <p:nvPr/>
        </p:nvSpPr>
        <p:spPr>
          <a:xfrm>
            <a:off x="4389120" y="1554480"/>
            <a:ext cx="73152" cy="4572000"/>
          </a:xfrm>
          <a:prstGeom prst="rect">
            <a:avLst/>
          </a:prstGeom>
          <a:solidFill>
            <a:srgbClr val="0EA5A5"/>
          </a:solidFill>
          <a:ln w="12700">
            <a:solidFill>
              <a:srgbClr val="0EA5A5"/>
            </a:solidFill>
            <a:prstDash val="solid"/>
          </a:ln>
        </p:spPr>
        <p:txBody>
          <a:bodyPr/>
          <a:p/>
        </p:txBody>
      </p:sp>
      <p:sp>
        <p:nvSpPr>
          <p:cNvPr id="13" name="Text 11"/>
          <p:cNvSpPr/>
          <p:nvPr/>
        </p:nvSpPr>
        <p:spPr>
          <a:xfrm>
            <a:off x="4663440" y="1828800"/>
            <a:ext cx="3200400" cy="91440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OpenSearch + DynamoDB (split data tier)</a:t>
            </a:r>
            <a:endParaRPr lang="en-US" sz="1700" dirty="0"/>
          </a:p>
        </p:txBody>
      </p:sp>
      <p:sp>
        <p:nvSpPr>
          <p:cNvPr id="14" name="Text 12"/>
          <p:cNvSpPr/>
          <p:nvPr/>
        </p:nvSpPr>
        <p:spPr>
          <a:xfrm>
            <a:off x="4663440" y="292608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Why</a:t>
            </a:r>
            <a:endParaRPr lang="en-US" sz="1200" dirty="0"/>
          </a:p>
        </p:txBody>
      </p:sp>
      <p:sp>
        <p:nvSpPr>
          <p:cNvPr id="15" name="Text 13"/>
          <p:cNvSpPr/>
          <p:nvPr/>
        </p:nvSpPr>
        <p:spPr>
          <a:xfrm>
            <a:off x="4663440" y="3246120"/>
            <a:ext cx="3200400" cy="137160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Heterogeneous access patterns — faceted search and single-key lookup are different jobs</a:t>
            </a:r>
            <a:endParaRPr lang="en-US" sz="1400" dirty="0"/>
          </a:p>
        </p:txBody>
      </p:sp>
      <p:sp>
        <p:nvSpPr>
          <p:cNvPr id="16" name="Text 14"/>
          <p:cNvSpPr/>
          <p:nvPr/>
        </p:nvSpPr>
        <p:spPr>
          <a:xfrm>
            <a:off x="4663440" y="466344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Trade-off accepted</a:t>
            </a:r>
            <a:endParaRPr lang="en-US" sz="1200" dirty="0"/>
          </a:p>
        </p:txBody>
      </p:sp>
      <p:sp>
        <p:nvSpPr>
          <p:cNvPr id="17" name="Text 15"/>
          <p:cNvSpPr/>
          <p:nvPr/>
        </p:nvSpPr>
        <p:spPr>
          <a:xfrm>
            <a:off x="4663440" y="498348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DynamoDB CDC streams piped into OSIS (managed OpenSearch Ingestion Service) — no custom indexer code to operate</a:t>
            </a:r>
            <a:endParaRPr lang="en-US" sz="1400" dirty="0"/>
          </a:p>
        </p:txBody>
      </p:sp>
      <p:sp>
        <p:nvSpPr>
          <p:cNvPr id="18" name="Shape 16"/>
          <p:cNvSpPr/>
          <p:nvPr/>
        </p:nvSpPr>
        <p:spPr>
          <a:xfrm>
            <a:off x="8275320" y="1554480"/>
            <a:ext cx="3657600" cy="4572000"/>
          </a:xfrm>
          <a:prstGeom prst="rect">
            <a:avLst/>
          </a:prstGeom>
          <a:solidFill>
            <a:srgbClr val="F8FAFC"/>
          </a:solidFill>
          <a:ln w="12700">
            <a:solidFill>
              <a:srgbClr val="E2E8F0"/>
            </a:solidFill>
            <a:prstDash val="solid"/>
          </a:ln>
        </p:spPr>
        <p:txBody>
          <a:bodyPr/>
          <a:p/>
        </p:txBody>
      </p:sp>
      <p:sp>
        <p:nvSpPr>
          <p:cNvPr id="19" name="Shape 17"/>
          <p:cNvSpPr/>
          <p:nvPr/>
        </p:nvSpPr>
        <p:spPr>
          <a:xfrm>
            <a:off x="8275320" y="1554480"/>
            <a:ext cx="73152" cy="4572000"/>
          </a:xfrm>
          <a:prstGeom prst="rect">
            <a:avLst/>
          </a:prstGeom>
          <a:solidFill>
            <a:srgbClr val="0EA5A5"/>
          </a:solidFill>
          <a:ln w="12700">
            <a:solidFill>
              <a:srgbClr val="0EA5A5"/>
            </a:solidFill>
            <a:prstDash val="solid"/>
          </a:ln>
        </p:spPr>
        <p:txBody>
          <a:bodyPr/>
          <a:p/>
        </p:txBody>
      </p:sp>
      <p:sp>
        <p:nvSpPr>
          <p:cNvPr id="20" name="Text 18"/>
          <p:cNvSpPr/>
          <p:nvPr/>
        </p:nvSpPr>
        <p:spPr>
          <a:xfrm>
            <a:off x="8549640" y="1828800"/>
            <a:ext cx="3200400" cy="91440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Okta via OIDC</a:t>
            </a:r>
            <a:endParaRPr lang="en-US" sz="1700" dirty="0"/>
          </a:p>
        </p:txBody>
      </p:sp>
      <p:sp>
        <p:nvSpPr>
          <p:cNvPr id="21" name="Text 19"/>
          <p:cNvSpPr/>
          <p:nvPr/>
        </p:nvSpPr>
        <p:spPr>
          <a:xfrm>
            <a:off x="8549640" y="292608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Why</a:t>
            </a:r>
            <a:endParaRPr lang="en-US" sz="1200" dirty="0"/>
          </a:p>
        </p:txBody>
      </p:sp>
      <p:sp>
        <p:nvSpPr>
          <p:cNvPr id="22" name="Text 20"/>
          <p:cNvSpPr/>
          <p:nvPr/>
        </p:nvSpPr>
        <p:spPr>
          <a:xfrm>
            <a:off x="8549640" y="3246120"/>
            <a:ext cx="3200400" cy="137160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Client-wide identity standard for partner SSO; mature OIDC support and group-based RBAC</a:t>
            </a:r>
            <a:endParaRPr lang="en-US" sz="1400" dirty="0"/>
          </a:p>
        </p:txBody>
      </p:sp>
      <p:sp>
        <p:nvSpPr>
          <p:cNvPr id="23" name="Text 21"/>
          <p:cNvSpPr/>
          <p:nvPr/>
        </p:nvSpPr>
        <p:spPr>
          <a:xfrm>
            <a:off x="8549640" y="466344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Trade-off accepted</a:t>
            </a:r>
            <a:endParaRPr lang="en-US" sz="1200" dirty="0"/>
          </a:p>
        </p:txBody>
      </p:sp>
      <p:sp>
        <p:nvSpPr>
          <p:cNvPr id="24" name="Text 22"/>
          <p:cNvSpPr/>
          <p:nvPr/>
        </p:nvSpPr>
        <p:spPr>
          <a:xfrm>
            <a:off x="8549640" y="498348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Vendor lock-in to Okta; accepted as the org standard</a:t>
            </a:r>
            <a:endParaRPr lang="en-US" sz="1400" dirty="0"/>
          </a:p>
        </p:txBody>
      </p:sp>
      <p:sp>
        <p:nvSpPr>
          <p:cNvPr id="25" name="Text 2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26" name="Text 2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Non-functional requirements</a:t>
            </a:r>
            <a:endParaRPr lang="en-US" sz="3000" dirty="0"/>
          </a:p>
        </p:txBody>
      </p:sp>
      <p:sp>
        <p:nvSpPr>
          <p:cNvPr id="4" name="Shape 2"/>
          <p:cNvSpPr/>
          <p:nvPr/>
        </p:nvSpPr>
        <p:spPr>
          <a:xfrm>
            <a:off x="548640" y="1508760"/>
            <a:ext cx="2103120" cy="86868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08760"/>
            <a:ext cx="73152" cy="86868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508760"/>
            <a:ext cx="18288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Security</a:t>
            </a:r>
            <a:endParaRPr lang="en-US" sz="1600" dirty="0"/>
          </a:p>
        </p:txBody>
      </p:sp>
      <p:sp>
        <p:nvSpPr>
          <p:cNvPr id="7" name="Shape 5"/>
          <p:cNvSpPr/>
          <p:nvPr/>
        </p:nvSpPr>
        <p:spPr>
          <a:xfrm>
            <a:off x="2788920" y="1508760"/>
            <a:ext cx="8823960" cy="868680"/>
          </a:xfrm>
          <a:prstGeom prst="rect">
            <a:avLst/>
          </a:prstGeom>
          <a:solidFill>
            <a:srgbClr val="FFFFFF"/>
          </a:solidFill>
          <a:ln w="12700">
            <a:solidFill>
              <a:srgbClr val="E2E8F0"/>
            </a:solidFill>
            <a:prstDash val="solid"/>
          </a:ln>
        </p:spPr>
        <p:txBody>
          <a:bodyPr/>
          <a:p/>
        </p:txBody>
      </p:sp>
      <p:sp>
        <p:nvSpPr>
          <p:cNvPr id="8" name="Text 6"/>
          <p:cNvSpPr/>
          <p:nvPr/>
        </p:nvSpPr>
        <p:spPr>
          <a:xfrm>
            <a:off x="2971800" y="1554480"/>
            <a:ext cx="8549640" cy="77724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AWS WAF managed + custom rules; OIDC + scoped tokens; Okta groups for RBAC; secrets in AWS Secrets Manager; TLS in transit, KMS at rest; structured PII-aware logging</a:t>
            </a:r>
            <a:endParaRPr lang="en-US" sz="1350" dirty="0"/>
          </a:p>
        </p:txBody>
      </p:sp>
      <p:sp>
        <p:nvSpPr>
          <p:cNvPr id="9" name="Shape 7"/>
          <p:cNvSpPr/>
          <p:nvPr/>
        </p:nvSpPr>
        <p:spPr>
          <a:xfrm>
            <a:off x="548640" y="2487168"/>
            <a:ext cx="2103120" cy="868680"/>
          </a:xfrm>
          <a:prstGeom prst="rect">
            <a:avLst/>
          </a:prstGeom>
          <a:solidFill>
            <a:srgbClr val="F8FAFC"/>
          </a:solidFill>
          <a:ln w="12700">
            <a:solidFill>
              <a:srgbClr val="E2E8F0"/>
            </a:solidFill>
            <a:prstDash val="solid"/>
          </a:ln>
        </p:spPr>
        <p:txBody>
          <a:bodyPr/>
          <a:p/>
        </p:txBody>
      </p:sp>
      <p:sp>
        <p:nvSpPr>
          <p:cNvPr id="10" name="Shape 8"/>
          <p:cNvSpPr/>
          <p:nvPr/>
        </p:nvSpPr>
        <p:spPr>
          <a:xfrm>
            <a:off x="548640" y="2487168"/>
            <a:ext cx="73152" cy="868680"/>
          </a:xfrm>
          <a:prstGeom prst="rect">
            <a:avLst/>
          </a:prstGeom>
          <a:solidFill>
            <a:srgbClr val="0EA5A5"/>
          </a:solidFill>
          <a:ln w="12700">
            <a:solidFill>
              <a:srgbClr val="0EA5A5"/>
            </a:solidFill>
            <a:prstDash val="solid"/>
          </a:ln>
        </p:spPr>
        <p:txBody>
          <a:bodyPr/>
          <a:p/>
        </p:txBody>
      </p:sp>
      <p:sp>
        <p:nvSpPr>
          <p:cNvPr id="11" name="Text 9"/>
          <p:cNvSpPr/>
          <p:nvPr/>
        </p:nvSpPr>
        <p:spPr>
          <a:xfrm>
            <a:off x="777240" y="2487168"/>
            <a:ext cx="18288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Observability</a:t>
            </a:r>
            <a:endParaRPr lang="en-US" sz="1600" dirty="0"/>
          </a:p>
        </p:txBody>
      </p:sp>
      <p:sp>
        <p:nvSpPr>
          <p:cNvPr id="12" name="Shape 10"/>
          <p:cNvSpPr/>
          <p:nvPr/>
        </p:nvSpPr>
        <p:spPr>
          <a:xfrm>
            <a:off x="2788920" y="2487168"/>
            <a:ext cx="8823960" cy="868680"/>
          </a:xfrm>
          <a:prstGeom prst="rect">
            <a:avLst/>
          </a:prstGeom>
          <a:solidFill>
            <a:srgbClr val="FFFFFF"/>
          </a:solidFill>
          <a:ln w="12700">
            <a:solidFill>
              <a:srgbClr val="E2E8F0"/>
            </a:solidFill>
            <a:prstDash val="solid"/>
          </a:ln>
        </p:spPr>
        <p:txBody>
          <a:bodyPr/>
          <a:p/>
        </p:txBody>
      </p:sp>
      <p:sp>
        <p:nvSpPr>
          <p:cNvPr id="13" name="Text 11"/>
          <p:cNvSpPr/>
          <p:nvPr/>
        </p:nvSpPr>
        <p:spPr>
          <a:xfrm>
            <a:off x="2971800" y="2532888"/>
            <a:ext cx="8549640" cy="77724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Distributed traces (Dynatrace), structured logs (Splunk), business metrics (custom), correlation IDs end-to-end</a:t>
            </a:r>
            <a:endParaRPr lang="en-US" sz="1350" dirty="0"/>
          </a:p>
        </p:txBody>
      </p:sp>
      <p:sp>
        <p:nvSpPr>
          <p:cNvPr id="14" name="Shape 12"/>
          <p:cNvSpPr/>
          <p:nvPr/>
        </p:nvSpPr>
        <p:spPr>
          <a:xfrm>
            <a:off x="548640" y="3465576"/>
            <a:ext cx="2103120" cy="868680"/>
          </a:xfrm>
          <a:prstGeom prst="rect">
            <a:avLst/>
          </a:prstGeom>
          <a:solidFill>
            <a:srgbClr val="F8FAFC"/>
          </a:solidFill>
          <a:ln w="12700">
            <a:solidFill>
              <a:srgbClr val="E2E8F0"/>
            </a:solidFill>
            <a:prstDash val="solid"/>
          </a:ln>
        </p:spPr>
        <p:txBody>
          <a:bodyPr/>
          <a:p/>
        </p:txBody>
      </p:sp>
      <p:sp>
        <p:nvSpPr>
          <p:cNvPr id="15" name="Shape 13"/>
          <p:cNvSpPr/>
          <p:nvPr/>
        </p:nvSpPr>
        <p:spPr>
          <a:xfrm>
            <a:off x="548640" y="3465576"/>
            <a:ext cx="73152" cy="868680"/>
          </a:xfrm>
          <a:prstGeom prst="rect">
            <a:avLst/>
          </a:prstGeom>
          <a:solidFill>
            <a:srgbClr val="0EA5A5"/>
          </a:solidFill>
          <a:ln w="12700">
            <a:solidFill>
              <a:srgbClr val="0EA5A5"/>
            </a:solidFill>
            <a:prstDash val="solid"/>
          </a:ln>
        </p:spPr>
        <p:txBody>
          <a:bodyPr/>
          <a:p/>
        </p:txBody>
      </p:sp>
      <p:sp>
        <p:nvSpPr>
          <p:cNvPr id="16" name="Text 14"/>
          <p:cNvSpPr/>
          <p:nvPr/>
        </p:nvSpPr>
        <p:spPr>
          <a:xfrm>
            <a:off x="777240" y="3465576"/>
            <a:ext cx="18288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Reliability</a:t>
            </a:r>
            <a:endParaRPr lang="en-US" sz="1600" dirty="0"/>
          </a:p>
        </p:txBody>
      </p:sp>
      <p:sp>
        <p:nvSpPr>
          <p:cNvPr id="17" name="Shape 15"/>
          <p:cNvSpPr/>
          <p:nvPr/>
        </p:nvSpPr>
        <p:spPr>
          <a:xfrm>
            <a:off x="2788920" y="3465576"/>
            <a:ext cx="8823960" cy="868680"/>
          </a:xfrm>
          <a:prstGeom prst="rect">
            <a:avLst/>
          </a:prstGeom>
          <a:solidFill>
            <a:srgbClr val="FFFFFF"/>
          </a:solidFill>
          <a:ln w="12700">
            <a:solidFill>
              <a:srgbClr val="E2E8F0"/>
            </a:solidFill>
            <a:prstDash val="solid"/>
          </a:ln>
        </p:spPr>
        <p:txBody>
          <a:bodyPr/>
          <a:p/>
        </p:txBody>
      </p:sp>
      <p:sp>
        <p:nvSpPr>
          <p:cNvPr id="18" name="Text 16"/>
          <p:cNvSpPr/>
          <p:nvPr/>
        </p:nvSpPr>
        <p:spPr>
          <a:xfrm>
            <a:off x="2971800" y="3511296"/>
            <a:ext cx="8549640" cy="77724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Idempotent ticket-create; OSIS-managed retries and DLQ on CDC-stream failures; DynamoDB point-in-time recovery; circuit breakers on downstream API calls</a:t>
            </a:r>
            <a:endParaRPr lang="en-US" sz="1350" dirty="0"/>
          </a:p>
        </p:txBody>
      </p:sp>
      <p:sp>
        <p:nvSpPr>
          <p:cNvPr id="19" name="Shape 17"/>
          <p:cNvSpPr/>
          <p:nvPr/>
        </p:nvSpPr>
        <p:spPr>
          <a:xfrm>
            <a:off x="548640" y="4443984"/>
            <a:ext cx="2103120" cy="868680"/>
          </a:xfrm>
          <a:prstGeom prst="rect">
            <a:avLst/>
          </a:prstGeom>
          <a:solidFill>
            <a:srgbClr val="F8FAFC"/>
          </a:solidFill>
          <a:ln w="12700">
            <a:solidFill>
              <a:srgbClr val="E2E8F0"/>
            </a:solidFill>
            <a:prstDash val="solid"/>
          </a:ln>
        </p:spPr>
        <p:txBody>
          <a:bodyPr/>
          <a:p/>
        </p:txBody>
      </p:sp>
      <p:sp>
        <p:nvSpPr>
          <p:cNvPr id="20" name="Shape 18"/>
          <p:cNvSpPr/>
          <p:nvPr/>
        </p:nvSpPr>
        <p:spPr>
          <a:xfrm>
            <a:off x="548640" y="4443984"/>
            <a:ext cx="73152" cy="868680"/>
          </a:xfrm>
          <a:prstGeom prst="rect">
            <a:avLst/>
          </a:prstGeom>
          <a:solidFill>
            <a:srgbClr val="0EA5A5"/>
          </a:solidFill>
          <a:ln w="12700">
            <a:solidFill>
              <a:srgbClr val="0EA5A5"/>
            </a:solidFill>
            <a:prstDash val="solid"/>
          </a:ln>
        </p:spPr>
        <p:txBody>
          <a:bodyPr/>
          <a:p/>
        </p:txBody>
      </p:sp>
      <p:sp>
        <p:nvSpPr>
          <p:cNvPr id="21" name="Text 19"/>
          <p:cNvSpPr/>
          <p:nvPr/>
        </p:nvSpPr>
        <p:spPr>
          <a:xfrm>
            <a:off x="777240" y="4443984"/>
            <a:ext cx="18288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Performance</a:t>
            </a:r>
            <a:endParaRPr lang="en-US" sz="1600" dirty="0"/>
          </a:p>
        </p:txBody>
      </p:sp>
      <p:sp>
        <p:nvSpPr>
          <p:cNvPr id="22" name="Shape 20"/>
          <p:cNvSpPr/>
          <p:nvPr/>
        </p:nvSpPr>
        <p:spPr>
          <a:xfrm>
            <a:off x="2788920" y="4443984"/>
            <a:ext cx="8823960" cy="868680"/>
          </a:xfrm>
          <a:prstGeom prst="rect">
            <a:avLst/>
          </a:prstGeom>
          <a:solidFill>
            <a:srgbClr val="FFFFFF"/>
          </a:solidFill>
          <a:ln w="12700">
            <a:solidFill>
              <a:srgbClr val="E2E8F0"/>
            </a:solidFill>
            <a:prstDash val="solid"/>
          </a:ln>
        </p:spPr>
        <p:txBody>
          <a:bodyPr/>
          <a:p/>
        </p:txBody>
      </p:sp>
      <p:sp>
        <p:nvSpPr>
          <p:cNvPr id="23" name="Text 21"/>
          <p:cNvSpPr/>
          <p:nvPr/>
        </p:nvSpPr>
        <p:spPr>
          <a:xfrm>
            <a:off x="2971800" y="4489704"/>
            <a:ext cx="8549640" cy="77724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Single-digit-second p95 on partner search; cached partner metadata in DynamoDB</a:t>
            </a:r>
            <a:endParaRPr lang="en-US" sz="1350" dirty="0"/>
          </a:p>
        </p:txBody>
      </p:sp>
      <p:sp>
        <p:nvSpPr>
          <p:cNvPr id="24" name="Shape 22"/>
          <p:cNvSpPr/>
          <p:nvPr/>
        </p:nvSpPr>
        <p:spPr>
          <a:xfrm>
            <a:off x="548640" y="5422392"/>
            <a:ext cx="2103120" cy="868680"/>
          </a:xfrm>
          <a:prstGeom prst="rect">
            <a:avLst/>
          </a:prstGeom>
          <a:solidFill>
            <a:srgbClr val="F8FAFC"/>
          </a:solidFill>
          <a:ln w="12700">
            <a:solidFill>
              <a:srgbClr val="E2E8F0"/>
            </a:solidFill>
            <a:prstDash val="solid"/>
          </a:ln>
        </p:spPr>
        <p:txBody>
          <a:bodyPr/>
          <a:p/>
        </p:txBody>
      </p:sp>
      <p:sp>
        <p:nvSpPr>
          <p:cNvPr id="25" name="Shape 23"/>
          <p:cNvSpPr/>
          <p:nvPr/>
        </p:nvSpPr>
        <p:spPr>
          <a:xfrm>
            <a:off x="548640" y="5422392"/>
            <a:ext cx="73152" cy="868680"/>
          </a:xfrm>
          <a:prstGeom prst="rect">
            <a:avLst/>
          </a:prstGeom>
          <a:solidFill>
            <a:srgbClr val="0EA5A5"/>
          </a:solidFill>
          <a:ln w="12700">
            <a:solidFill>
              <a:srgbClr val="0EA5A5"/>
            </a:solidFill>
            <a:prstDash val="solid"/>
          </a:ln>
        </p:spPr>
        <p:txBody>
          <a:bodyPr/>
          <a:p/>
        </p:txBody>
      </p:sp>
      <p:sp>
        <p:nvSpPr>
          <p:cNvPr id="26" name="Text 24"/>
          <p:cNvSpPr/>
          <p:nvPr/>
        </p:nvSpPr>
        <p:spPr>
          <a:xfrm>
            <a:off x="777240" y="5422392"/>
            <a:ext cx="18288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Scalability</a:t>
            </a:r>
            <a:endParaRPr lang="en-US" sz="1600" dirty="0"/>
          </a:p>
        </p:txBody>
      </p:sp>
      <p:sp>
        <p:nvSpPr>
          <p:cNvPr id="27" name="Shape 25"/>
          <p:cNvSpPr/>
          <p:nvPr/>
        </p:nvSpPr>
        <p:spPr>
          <a:xfrm>
            <a:off x="2788920" y="5422392"/>
            <a:ext cx="8823960" cy="868680"/>
          </a:xfrm>
          <a:prstGeom prst="rect">
            <a:avLst/>
          </a:prstGeom>
          <a:solidFill>
            <a:srgbClr val="FFFFFF"/>
          </a:solidFill>
          <a:ln w="12700">
            <a:solidFill>
              <a:srgbClr val="E2E8F0"/>
            </a:solidFill>
            <a:prstDash val="solid"/>
          </a:ln>
        </p:spPr>
        <p:txBody>
          <a:bodyPr/>
          <a:p/>
        </p:txBody>
      </p:sp>
      <p:sp>
        <p:nvSpPr>
          <p:cNvPr id="28" name="Text 26"/>
          <p:cNvSpPr/>
          <p:nvPr/>
        </p:nvSpPr>
        <p:spPr>
          <a:xfrm>
            <a:off x="2971800" y="5468112"/>
            <a:ext cx="8549640" cy="77724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Lambda functions for the API (auto-scale by concurrent requests); ECS-Fargate task scaling for the Angular UI container</a:t>
            </a:r>
            <a:endParaRPr lang="en-US" sz="1350" dirty="0"/>
          </a:p>
        </p:txBody>
      </p:sp>
      <p:sp>
        <p:nvSpPr>
          <p:cNvPr id="29" name="Text 27"/>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0" name="Text 28"/>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Obstacles overcome</a:t>
            </a:r>
            <a:endParaRPr lang="en-US" sz="3000" dirty="0"/>
          </a:p>
        </p:txBody>
      </p:sp>
      <p:sp>
        <p:nvSpPr>
          <p:cNvPr id="4" name="Shape 2"/>
          <p:cNvSpPr/>
          <p:nvPr/>
        </p:nvSpPr>
        <p:spPr>
          <a:xfrm>
            <a:off x="502920" y="1554480"/>
            <a:ext cx="36576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02920" y="1554480"/>
            <a:ext cx="73152" cy="4572000"/>
          </a:xfrm>
          <a:prstGeom prst="rect">
            <a:avLst/>
          </a:prstGeom>
          <a:solidFill>
            <a:srgbClr val="0EA5A5"/>
          </a:solidFill>
          <a:ln w="12700">
            <a:solidFill>
              <a:srgbClr val="0EA5A5"/>
            </a:solidFill>
            <a:prstDash val="solid"/>
          </a:ln>
        </p:spPr>
        <p:txBody>
          <a:bodyPr/>
          <a:p/>
        </p:txBody>
      </p:sp>
      <p:sp>
        <p:nvSpPr>
          <p:cNvPr id="6" name="Shape 4"/>
          <p:cNvSpPr/>
          <p:nvPr/>
        </p:nvSpPr>
        <p:spPr>
          <a:xfrm>
            <a:off x="777240" y="1828800"/>
            <a:ext cx="502920" cy="502920"/>
          </a:xfrm>
          <a:prstGeom prst="ellipse">
            <a:avLst/>
          </a:prstGeom>
          <a:solidFill>
            <a:srgbClr val="0EA5A5"/>
          </a:solidFill>
          <a:ln w="12700">
            <a:solidFill>
              <a:srgbClr val="0EA5A5"/>
            </a:solidFill>
            <a:prstDash val="solid"/>
          </a:ln>
        </p:spPr>
        <p:txBody>
          <a:bodyPr/>
          <a:p/>
        </p:txBody>
      </p:sp>
      <p:sp>
        <p:nvSpPr>
          <p:cNvPr id="7" name="Text 5"/>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77240" y="25146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Obstacle</a:t>
            </a:r>
            <a:endParaRPr lang="en-US" sz="1200" dirty="0"/>
          </a:p>
        </p:txBody>
      </p:sp>
      <p:sp>
        <p:nvSpPr>
          <p:cNvPr id="9" name="Text 7"/>
          <p:cNvSpPr/>
          <p:nvPr/>
        </p:nvSpPr>
        <p:spPr>
          <a:xfrm>
            <a:off x="777240" y="2834640"/>
            <a:ext cx="3200400" cy="10058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Solo scope on a typically-team-sized backlog</a:t>
            </a:r>
            <a:endParaRPr lang="en-US" sz="1400" dirty="0"/>
          </a:p>
        </p:txBody>
      </p:sp>
      <p:sp>
        <p:nvSpPr>
          <p:cNvPr id="10" name="Text 8"/>
          <p:cNvSpPr/>
          <p:nvPr/>
        </p:nvSpPr>
        <p:spPr>
          <a:xfrm>
            <a:off x="777240" y="38862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Response</a:t>
            </a:r>
            <a:endParaRPr lang="en-US" sz="1200" dirty="0"/>
          </a:p>
        </p:txBody>
      </p:sp>
      <p:sp>
        <p:nvSpPr>
          <p:cNvPr id="11" name="Text 9"/>
          <p:cNvSpPr/>
          <p:nvPr/>
        </p:nvSpPr>
        <p:spPr>
          <a:xfrm>
            <a:off x="777240" y="420624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AI-assisted scaffolding (Claude Code) for boilerplate + tests; human focus on integration, design, and review</a:t>
            </a:r>
            <a:endParaRPr lang="en-US" sz="1400" dirty="0"/>
          </a:p>
        </p:txBody>
      </p:sp>
      <p:sp>
        <p:nvSpPr>
          <p:cNvPr id="12" name="Text 10"/>
          <p:cNvSpPr/>
          <p:nvPr/>
        </p:nvSpPr>
        <p:spPr>
          <a:xfrm>
            <a:off x="777240" y="52578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Outcome</a:t>
            </a:r>
            <a:endParaRPr lang="en-US" sz="1200" dirty="0"/>
          </a:p>
        </p:txBody>
      </p:sp>
      <p:sp>
        <p:nvSpPr>
          <p:cNvPr id="13" name="Text 11"/>
          <p:cNvSpPr/>
          <p:nvPr/>
        </p:nvSpPr>
        <p:spPr>
          <a:xfrm>
            <a:off x="777240" y="5577840"/>
            <a:ext cx="3200400" cy="50292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Kept velocity without compromising on review discipline</a:t>
            </a:r>
            <a:endParaRPr lang="en-US" sz="1350" dirty="0"/>
          </a:p>
        </p:txBody>
      </p:sp>
      <p:sp>
        <p:nvSpPr>
          <p:cNvPr id="14" name="Shape 12"/>
          <p:cNvSpPr/>
          <p:nvPr/>
        </p:nvSpPr>
        <p:spPr>
          <a:xfrm>
            <a:off x="4389120" y="1554480"/>
            <a:ext cx="3657600" cy="4572000"/>
          </a:xfrm>
          <a:prstGeom prst="rect">
            <a:avLst/>
          </a:prstGeom>
          <a:solidFill>
            <a:srgbClr val="F8FAFC"/>
          </a:solidFill>
          <a:ln w="12700">
            <a:solidFill>
              <a:srgbClr val="E2E8F0"/>
            </a:solidFill>
            <a:prstDash val="solid"/>
          </a:ln>
        </p:spPr>
        <p:txBody>
          <a:bodyPr/>
          <a:p/>
        </p:txBody>
      </p:sp>
      <p:sp>
        <p:nvSpPr>
          <p:cNvPr id="15" name="Shape 13"/>
          <p:cNvSpPr/>
          <p:nvPr/>
        </p:nvSpPr>
        <p:spPr>
          <a:xfrm>
            <a:off x="4389120" y="1554480"/>
            <a:ext cx="73152" cy="4572000"/>
          </a:xfrm>
          <a:prstGeom prst="rect">
            <a:avLst/>
          </a:prstGeom>
          <a:solidFill>
            <a:srgbClr val="0EA5A5"/>
          </a:solidFill>
          <a:ln w="12700">
            <a:solidFill>
              <a:srgbClr val="0EA5A5"/>
            </a:solidFill>
            <a:prstDash val="solid"/>
          </a:ln>
        </p:spPr>
        <p:txBody>
          <a:bodyPr/>
          <a:p/>
        </p:txBody>
      </p:sp>
      <p:sp>
        <p:nvSpPr>
          <p:cNvPr id="16" name="Shape 14"/>
          <p:cNvSpPr/>
          <p:nvPr/>
        </p:nvSpPr>
        <p:spPr>
          <a:xfrm>
            <a:off x="4663440" y="1828800"/>
            <a:ext cx="502920" cy="502920"/>
          </a:xfrm>
          <a:prstGeom prst="ellipse">
            <a:avLst/>
          </a:prstGeom>
          <a:solidFill>
            <a:srgbClr val="0EA5A5"/>
          </a:solidFill>
          <a:ln w="12700">
            <a:solidFill>
              <a:srgbClr val="0EA5A5"/>
            </a:solidFill>
            <a:prstDash val="solid"/>
          </a:ln>
        </p:spPr>
        <p:txBody>
          <a:bodyPr/>
          <a:p/>
        </p:txBody>
      </p:sp>
      <p:sp>
        <p:nvSpPr>
          <p:cNvPr id="17" name="Text 15"/>
          <p:cNvSpPr/>
          <p:nvPr/>
        </p:nvSpPr>
        <p:spPr>
          <a:xfrm>
            <a:off x="46634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4663440" y="25146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Obstacle</a:t>
            </a:r>
            <a:endParaRPr lang="en-US" sz="1200" dirty="0"/>
          </a:p>
        </p:txBody>
      </p:sp>
      <p:sp>
        <p:nvSpPr>
          <p:cNvPr id="19" name="Text 17"/>
          <p:cNvSpPr/>
          <p:nvPr/>
        </p:nvSpPr>
        <p:spPr>
          <a:xfrm>
            <a:off x="4663440" y="2834640"/>
            <a:ext cx="3200400" cy="10058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Heterogeneous data needs (faceted search + key-by-id lookup)</a:t>
            </a:r>
            <a:endParaRPr lang="en-US" sz="1400" dirty="0"/>
          </a:p>
        </p:txBody>
      </p:sp>
      <p:sp>
        <p:nvSpPr>
          <p:cNvPr id="20" name="Text 18"/>
          <p:cNvSpPr/>
          <p:nvPr/>
        </p:nvSpPr>
        <p:spPr>
          <a:xfrm>
            <a:off x="4663440" y="38862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Response</a:t>
            </a:r>
            <a:endParaRPr lang="en-US" sz="1200" dirty="0"/>
          </a:p>
        </p:txBody>
      </p:sp>
      <p:sp>
        <p:nvSpPr>
          <p:cNvPr id="21" name="Text 19"/>
          <p:cNvSpPr/>
          <p:nvPr/>
        </p:nvSpPr>
        <p:spPr>
          <a:xfrm>
            <a:off x="4663440" y="420624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Split tier with DynamoDB CDC streams piped through OSIS into OpenSearch, instead of forcing one store</a:t>
            </a:r>
            <a:endParaRPr lang="en-US" sz="1400" dirty="0"/>
          </a:p>
        </p:txBody>
      </p:sp>
      <p:sp>
        <p:nvSpPr>
          <p:cNvPr id="22" name="Text 20"/>
          <p:cNvSpPr/>
          <p:nvPr/>
        </p:nvSpPr>
        <p:spPr>
          <a:xfrm>
            <a:off x="4663440" y="52578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Outcome</a:t>
            </a:r>
            <a:endParaRPr lang="en-US" sz="1200" dirty="0"/>
          </a:p>
        </p:txBody>
      </p:sp>
      <p:sp>
        <p:nvSpPr>
          <p:cNvPr id="23" name="Text 21"/>
          <p:cNvSpPr/>
          <p:nvPr/>
        </p:nvSpPr>
        <p:spPr>
          <a:xfrm>
            <a:off x="4663440" y="5577840"/>
            <a:ext cx="3200400" cy="50292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Search latency stayed sub-second; key lookups single-digit ms</a:t>
            </a:r>
            <a:endParaRPr lang="en-US" sz="1350" dirty="0"/>
          </a:p>
        </p:txBody>
      </p:sp>
      <p:sp>
        <p:nvSpPr>
          <p:cNvPr id="24" name="Shape 22"/>
          <p:cNvSpPr/>
          <p:nvPr/>
        </p:nvSpPr>
        <p:spPr>
          <a:xfrm>
            <a:off x="8275320" y="1554480"/>
            <a:ext cx="3657600" cy="4572000"/>
          </a:xfrm>
          <a:prstGeom prst="rect">
            <a:avLst/>
          </a:prstGeom>
          <a:solidFill>
            <a:srgbClr val="F8FAFC"/>
          </a:solidFill>
          <a:ln w="12700">
            <a:solidFill>
              <a:srgbClr val="E2E8F0"/>
            </a:solidFill>
            <a:prstDash val="solid"/>
          </a:ln>
        </p:spPr>
        <p:txBody>
          <a:bodyPr/>
          <a:p/>
        </p:txBody>
      </p:sp>
      <p:sp>
        <p:nvSpPr>
          <p:cNvPr id="25" name="Shape 23"/>
          <p:cNvSpPr/>
          <p:nvPr/>
        </p:nvSpPr>
        <p:spPr>
          <a:xfrm>
            <a:off x="8275320" y="1554480"/>
            <a:ext cx="73152" cy="4572000"/>
          </a:xfrm>
          <a:prstGeom prst="rect">
            <a:avLst/>
          </a:prstGeom>
          <a:solidFill>
            <a:srgbClr val="0EA5A5"/>
          </a:solidFill>
          <a:ln w="12700">
            <a:solidFill>
              <a:srgbClr val="0EA5A5"/>
            </a:solidFill>
            <a:prstDash val="solid"/>
          </a:ln>
        </p:spPr>
        <p:txBody>
          <a:bodyPr/>
          <a:p/>
        </p:txBody>
      </p:sp>
      <p:sp>
        <p:nvSpPr>
          <p:cNvPr id="26" name="Shape 24"/>
          <p:cNvSpPr/>
          <p:nvPr/>
        </p:nvSpPr>
        <p:spPr>
          <a:xfrm>
            <a:off x="8549640" y="1828800"/>
            <a:ext cx="502920" cy="502920"/>
          </a:xfrm>
          <a:prstGeom prst="ellipse">
            <a:avLst/>
          </a:prstGeom>
          <a:solidFill>
            <a:srgbClr val="0EA5A5"/>
          </a:solidFill>
          <a:ln w="12700">
            <a:solidFill>
              <a:srgbClr val="0EA5A5"/>
            </a:solidFill>
            <a:prstDash val="solid"/>
          </a:ln>
        </p:spPr>
        <p:txBody>
          <a:bodyPr/>
          <a:p/>
        </p:txBody>
      </p:sp>
      <p:sp>
        <p:nvSpPr>
          <p:cNvPr id="27" name="Text 25"/>
          <p:cNvSpPr/>
          <p:nvPr/>
        </p:nvSpPr>
        <p:spPr>
          <a:xfrm>
            <a:off x="85496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6"/>
          <p:cNvSpPr/>
          <p:nvPr/>
        </p:nvSpPr>
        <p:spPr>
          <a:xfrm>
            <a:off x="8549640" y="25146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Obstacle</a:t>
            </a:r>
            <a:endParaRPr lang="en-US" sz="1200" dirty="0"/>
          </a:p>
        </p:txBody>
      </p:sp>
      <p:sp>
        <p:nvSpPr>
          <p:cNvPr id="29" name="Text 27"/>
          <p:cNvSpPr/>
          <p:nvPr/>
        </p:nvSpPr>
        <p:spPr>
          <a:xfrm>
            <a:off x="8549640" y="2834640"/>
            <a:ext cx="3200400" cy="10058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Late-discovered partner-side authentication constraint</a:t>
            </a:r>
            <a:endParaRPr lang="en-US" sz="1400" dirty="0"/>
          </a:p>
        </p:txBody>
      </p:sp>
      <p:sp>
        <p:nvSpPr>
          <p:cNvPr id="30" name="Text 28"/>
          <p:cNvSpPr/>
          <p:nvPr/>
        </p:nvSpPr>
        <p:spPr>
          <a:xfrm>
            <a:off x="8549640" y="38862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Response</a:t>
            </a:r>
            <a:endParaRPr lang="en-US" sz="1200" dirty="0"/>
          </a:p>
        </p:txBody>
      </p:sp>
      <p:sp>
        <p:nvSpPr>
          <p:cNvPr id="31" name="Text 29"/>
          <p:cNvSpPr/>
          <p:nvPr/>
        </p:nvSpPr>
        <p:spPr>
          <a:xfrm>
            <a:off x="8549640" y="4206240"/>
            <a:ext cx="3200400" cy="10972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Re-negotiated scope; shipped a fallback flow first, full Okta integration in a follow-up release</a:t>
            </a:r>
            <a:endParaRPr lang="en-US" sz="1400" dirty="0"/>
          </a:p>
        </p:txBody>
      </p:sp>
      <p:sp>
        <p:nvSpPr>
          <p:cNvPr id="32" name="Text 30"/>
          <p:cNvSpPr/>
          <p:nvPr/>
        </p:nvSpPr>
        <p:spPr>
          <a:xfrm>
            <a:off x="8549640" y="5257800"/>
            <a:ext cx="3200400" cy="320040"/>
          </a:xfrm>
          <a:prstGeom prst="rect">
            <a:avLst/>
          </a:prstGeom>
          <a:noFill/>
          <a:ln/>
        </p:spPr>
        <p:txBody>
          <a:bodyPr wrap="square" lIns="0" tIns="0" rIns="0" bIns="0" rtlCol="0" anchor="t"/>
          <a:lstStyle/>
          <a:p>
            <a:pPr indent="0" marL="0">
              <a:buNone/>
            </a:pPr>
            <a:r>
              <a:rPr lang="en-US" sz="1200" b="1" dirty="0">
                <a:solidFill>
                  <a:srgbClr val="0891B2"/>
                </a:solidFill>
                <a:latin typeface="Calibri" pitchFamily="34" charset="0"/>
                <a:ea typeface="Calibri" pitchFamily="34" charset="-122"/>
                <a:cs typeface="Calibri" pitchFamily="34" charset="-120"/>
              </a:rPr>
              <a:t>Outcome</a:t>
            </a:r>
            <a:endParaRPr lang="en-US" sz="1200" dirty="0"/>
          </a:p>
        </p:txBody>
      </p:sp>
      <p:sp>
        <p:nvSpPr>
          <p:cNvPr id="33" name="Text 31"/>
          <p:cNvSpPr/>
          <p:nvPr/>
        </p:nvSpPr>
        <p:spPr>
          <a:xfrm>
            <a:off x="8549640" y="5577840"/>
            <a:ext cx="3200400" cy="50292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Did not slip the live date; built credibility with the business</a:t>
            </a:r>
            <a:endParaRPr lang="en-US" sz="1350" dirty="0"/>
          </a:p>
        </p:txBody>
      </p:sp>
      <p:sp>
        <p:nvSpPr>
          <p:cNvPr id="34" name="Text 3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5" name="Text 3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457200" y="2194560"/>
            <a:ext cx="164592" cy="2377440"/>
          </a:xfrm>
          <a:prstGeom prst="rect">
            <a:avLst/>
          </a:prstGeom>
          <a:solidFill>
            <a:srgbClr val="0EA5A5"/>
          </a:solidFill>
          <a:ln w="12700">
            <a:solidFill>
              <a:srgbClr val="0EA5A5"/>
            </a:solidFill>
            <a:prstDash val="solid"/>
          </a:ln>
        </p:spPr>
        <p:txBody>
          <a:bodyPr/>
          <a:p/>
        </p:txBody>
      </p:sp>
      <p:sp>
        <p:nvSpPr>
          <p:cNvPr id="3" name="Text 1"/>
          <p:cNvSpPr/>
          <p:nvPr/>
        </p:nvSpPr>
        <p:spPr>
          <a:xfrm>
            <a:off x="868680" y="2286000"/>
            <a:ext cx="10607040" cy="146304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Reimagining the Platform as an Agentic System</a:t>
            </a:r>
            <a:endParaRPr lang="en-US" sz="3800" dirty="0"/>
          </a:p>
        </p:txBody>
      </p:sp>
      <p:sp>
        <p:nvSpPr>
          <p:cNvPr id="4" name="Text 2"/>
          <p:cNvSpPr/>
          <p:nvPr/>
        </p:nvSpPr>
        <p:spPr>
          <a:xfrm>
            <a:off x="868680" y="3840480"/>
            <a:ext cx="10607040" cy="640080"/>
          </a:xfrm>
          <a:prstGeom prst="rect">
            <a:avLst/>
          </a:prstGeom>
          <a:noFill/>
          <a:ln/>
        </p:spPr>
        <p:txBody>
          <a:bodyPr wrap="square" lIns="0" tIns="0" rIns="0" bIns="0" rtlCol="0" anchor="ctr"/>
          <a:lstStyle/>
          <a:p>
            <a:pPr algn="l" indent="0" marL="0">
              <a:buNone/>
            </a:pPr>
            <a:r>
              <a:rPr lang="en-US" sz="1800" dirty="0">
                <a:solidFill>
                  <a:srgbClr val="CBD5E1"/>
                </a:solidFill>
                <a:latin typeface="Calibri" pitchFamily="34" charset="0"/>
                <a:ea typeface="Calibri" pitchFamily="34" charset="-122"/>
                <a:cs typeface="Calibri" pitchFamily="34" charset="-120"/>
              </a:rPr>
              <a:t>The planned next phase — automating ticket handling with AI agents</a:t>
            </a:r>
            <a:endParaRPr lang="en-US" sz="1800" dirty="0"/>
          </a:p>
        </p:txBody>
      </p:sp>
      <p:sp>
        <p:nvSpPr>
          <p:cNvPr id="5" name="Text 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6" name="Text 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Why agents fit this problem</a:t>
            </a:r>
            <a:endParaRPr lang="en-US" sz="3000" dirty="0"/>
          </a:p>
        </p:txBody>
      </p:sp>
      <p:sp>
        <p:nvSpPr>
          <p:cNvPr id="4" name="Shape 2"/>
          <p:cNvSpPr/>
          <p:nvPr/>
        </p:nvSpPr>
        <p:spPr>
          <a:xfrm>
            <a:off x="548640" y="1554480"/>
            <a:ext cx="54864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Where rules and humans struggle today</a:t>
            </a:r>
            <a:endParaRPr lang="en-US" sz="1700" dirty="0"/>
          </a:p>
        </p:txBody>
      </p:sp>
      <p:sp>
        <p:nvSpPr>
          <p:cNvPr id="7" name="Shape 5"/>
          <p:cNvSpPr/>
          <p:nvPr/>
        </p:nvSpPr>
        <p:spPr>
          <a:xfrm>
            <a:off x="841248" y="2570163"/>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Free-text descriptions vary wildly between partners</a:t>
            </a:r>
            <a:endParaRPr lang="en-US" sz="1450" dirty="0"/>
          </a:p>
        </p:txBody>
      </p:sp>
      <p:sp>
        <p:nvSpPr>
          <p:cNvPr id="9" name="Shape 7"/>
          <p:cNvSpPr/>
          <p:nvPr/>
        </p:nvSpPr>
        <p:spPr>
          <a:xfrm>
            <a:off x="841248" y="3347403"/>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24612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Triage requires domain knowledge spread across runbooks</a:t>
            </a:r>
            <a:endParaRPr lang="en-US" sz="1450" dirty="0"/>
          </a:p>
        </p:txBody>
      </p:sp>
      <p:sp>
        <p:nvSpPr>
          <p:cNvPr id="11" name="Shape 9"/>
          <p:cNvSpPr/>
          <p:nvPr/>
        </p:nvSpPr>
        <p:spPr>
          <a:xfrm>
            <a:off x="841248" y="4124643"/>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402336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Engineers spend cycles on classification + drafting, not real incidents</a:t>
            </a:r>
            <a:endParaRPr lang="en-US" sz="1450" dirty="0"/>
          </a:p>
        </p:txBody>
      </p:sp>
      <p:sp>
        <p:nvSpPr>
          <p:cNvPr id="13" name="Shape 11"/>
          <p:cNvSpPr/>
          <p:nvPr/>
        </p:nvSpPr>
        <p:spPr>
          <a:xfrm>
            <a:off x="841248" y="4901883"/>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480060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Routing rules drift; quality depends on the on-call's experience</a:t>
            </a:r>
            <a:endParaRPr lang="en-US" sz="1450" dirty="0"/>
          </a:p>
        </p:txBody>
      </p:sp>
      <p:sp>
        <p:nvSpPr>
          <p:cNvPr id="15" name="Shape 13"/>
          <p:cNvSpPr/>
          <p:nvPr/>
        </p:nvSpPr>
        <p:spPr>
          <a:xfrm>
            <a:off x="6309360" y="1554480"/>
            <a:ext cx="5486400" cy="4572000"/>
          </a:xfrm>
          <a:prstGeom prst="rect">
            <a:avLst/>
          </a:prstGeom>
          <a:solidFill>
            <a:srgbClr val="F8FAFC"/>
          </a:solidFill>
          <a:ln w="12700">
            <a:solidFill>
              <a:srgbClr val="E2E8F0"/>
            </a:solidFill>
            <a:prstDash val="solid"/>
          </a:ln>
        </p:spPr>
        <p:txBody>
          <a:bodyPr/>
          <a:p/>
        </p:txBody>
      </p:sp>
      <p:sp>
        <p:nvSpPr>
          <p:cNvPr id="16" name="Shape 14"/>
          <p:cNvSpPr/>
          <p:nvPr/>
        </p:nvSpPr>
        <p:spPr>
          <a:xfrm>
            <a:off x="6309360" y="1554480"/>
            <a:ext cx="73152" cy="4572000"/>
          </a:xfrm>
          <a:prstGeom prst="rect">
            <a:avLst/>
          </a:prstGeom>
          <a:solidFill>
            <a:srgbClr val="0EA5A5"/>
          </a:solidFill>
          <a:ln w="12700">
            <a:solidFill>
              <a:srgbClr val="0EA5A5"/>
            </a:solidFill>
            <a:prstDash val="solid"/>
          </a:ln>
        </p:spPr>
        <p:txBody>
          <a:bodyPr/>
          <a:p/>
        </p:txBody>
      </p:sp>
      <p:sp>
        <p:nvSpPr>
          <p:cNvPr id="17" name="Text 15"/>
          <p:cNvSpPr/>
          <p:nvPr/>
        </p:nvSpPr>
        <p:spPr>
          <a:xfrm>
            <a:off x="658368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Why agents are a fit</a:t>
            </a:r>
            <a:endParaRPr lang="en-US" sz="1700" dirty="0"/>
          </a:p>
        </p:txBody>
      </p:sp>
      <p:sp>
        <p:nvSpPr>
          <p:cNvPr id="18" name="Shape 16"/>
          <p:cNvSpPr/>
          <p:nvPr/>
        </p:nvSpPr>
        <p:spPr>
          <a:xfrm>
            <a:off x="6601968" y="2570163"/>
            <a:ext cx="109728" cy="109728"/>
          </a:xfrm>
          <a:prstGeom prst="ellipse">
            <a:avLst/>
          </a:prstGeom>
          <a:solidFill>
            <a:srgbClr val="0EA5A5"/>
          </a:solidFill>
          <a:ln w="12700">
            <a:solidFill>
              <a:srgbClr val="0EA5A5"/>
            </a:solidFill>
            <a:prstDash val="solid"/>
          </a:ln>
        </p:spPr>
        <p:txBody>
          <a:bodyPr/>
          <a:p/>
        </p:txBody>
      </p:sp>
      <p:sp>
        <p:nvSpPr>
          <p:cNvPr id="19" name="Text 17"/>
          <p:cNvSpPr/>
          <p:nvPr/>
        </p:nvSpPr>
        <p:spPr>
          <a:xfrm>
            <a:off x="6839712" y="246888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Tasks are bounded, repeatable, judgement-heavy — the agent sweet spot</a:t>
            </a:r>
            <a:endParaRPr lang="en-US" sz="1450" dirty="0"/>
          </a:p>
        </p:txBody>
      </p:sp>
      <p:sp>
        <p:nvSpPr>
          <p:cNvPr id="20" name="Shape 18"/>
          <p:cNvSpPr/>
          <p:nvPr/>
        </p:nvSpPr>
        <p:spPr>
          <a:xfrm>
            <a:off x="6601968" y="3347403"/>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324612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Each step has a verifiable output (label, route, draft, summary)</a:t>
            </a:r>
            <a:endParaRPr lang="en-US" sz="1450" dirty="0"/>
          </a:p>
        </p:txBody>
      </p:sp>
      <p:sp>
        <p:nvSpPr>
          <p:cNvPr id="22" name="Shape 20"/>
          <p:cNvSpPr/>
          <p:nvPr/>
        </p:nvSpPr>
        <p:spPr>
          <a:xfrm>
            <a:off x="6601968" y="4124643"/>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402336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Domain knowledge is RAG-able (runbooks, past tickets, escalations)</a:t>
            </a:r>
            <a:endParaRPr lang="en-US" sz="1450" dirty="0"/>
          </a:p>
        </p:txBody>
      </p:sp>
      <p:sp>
        <p:nvSpPr>
          <p:cNvPr id="24" name="Shape 22"/>
          <p:cNvSpPr/>
          <p:nvPr/>
        </p:nvSpPr>
        <p:spPr>
          <a:xfrm>
            <a:off x="6601968" y="4901883"/>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6839712" y="4800600"/>
            <a:ext cx="4773168" cy="7772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Human-in-the-loop on outbound preserves control where it matters</a:t>
            </a:r>
            <a:endParaRPr lang="en-US" sz="1450" dirty="0"/>
          </a:p>
        </p:txBody>
      </p:sp>
      <p:sp>
        <p:nvSpPr>
          <p:cNvPr id="26" name="Text 2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27" name="Text 2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Reference architecture (agentic)</a:t>
            </a:r>
            <a:endParaRPr lang="en-US" sz="3000" dirty="0"/>
          </a:p>
        </p:txBody>
      </p:sp>
      <p:sp>
        <p:nvSpPr>
          <p:cNvPr id="4" name="Shape 2"/>
          <p:cNvSpPr/>
          <p:nvPr/>
        </p:nvSpPr>
        <p:spPr>
          <a:xfrm>
            <a:off x="2560320" y="1417320"/>
            <a:ext cx="2194560" cy="594360"/>
          </a:xfrm>
          <a:prstGeom prst="rect">
            <a:avLst/>
          </a:prstGeom>
          <a:solidFill>
            <a:srgbClr val="F8FAFC"/>
          </a:solidFill>
          <a:ln w="15875">
            <a:solidFill>
              <a:srgbClr val="0EA5A5"/>
            </a:solidFill>
            <a:prstDash val="solid"/>
          </a:ln>
        </p:spPr>
        <p:txBody>
          <a:bodyPr/>
          <a:p/>
        </p:txBody>
      </p:sp>
      <p:sp>
        <p:nvSpPr>
          <p:cNvPr id="5" name="Text 3"/>
          <p:cNvSpPr/>
          <p:nvPr/>
        </p:nvSpPr>
        <p:spPr>
          <a:xfrm>
            <a:off x="2606040" y="1453896"/>
            <a:ext cx="2103120" cy="521208"/>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Partner Submits Ticket</a:t>
            </a:r>
            <a:endParaRPr lang="en-US" sz="1150" dirty="0"/>
          </a:p>
        </p:txBody>
      </p:sp>
      <p:sp>
        <p:nvSpPr>
          <p:cNvPr id="6" name="Shape 4"/>
          <p:cNvSpPr/>
          <p:nvPr/>
        </p:nvSpPr>
        <p:spPr>
          <a:xfrm>
            <a:off x="5120640" y="1417320"/>
            <a:ext cx="2194560" cy="594360"/>
          </a:xfrm>
          <a:prstGeom prst="rect">
            <a:avLst/>
          </a:prstGeom>
          <a:solidFill>
            <a:srgbClr val="F8FAFC"/>
          </a:solidFill>
          <a:ln w="15875">
            <a:solidFill>
              <a:srgbClr val="0EA5A5"/>
            </a:solidFill>
            <a:prstDash val="solid"/>
          </a:ln>
        </p:spPr>
        <p:txBody>
          <a:bodyPr/>
          <a:p/>
        </p:txBody>
      </p:sp>
      <p:sp>
        <p:nvSpPr>
          <p:cNvPr id="7" name="Text 5"/>
          <p:cNvSpPr/>
          <p:nvPr/>
        </p:nvSpPr>
        <p:spPr>
          <a:xfrm>
            <a:off x="5166360" y="1453896"/>
            <a:ext cx="2103120" cy="521208"/>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Ingestion API</a:t>
            </a:r>
            <a:endParaRPr lang="en-US" sz="1150" dirty="0"/>
          </a:p>
        </p:txBody>
      </p:sp>
      <p:sp>
        <p:nvSpPr>
          <p:cNvPr id="8" name="Shape 6"/>
          <p:cNvSpPr/>
          <p:nvPr/>
        </p:nvSpPr>
        <p:spPr>
          <a:xfrm>
            <a:off x="4754880" y="1714500"/>
            <a:ext cx="365760" cy="0"/>
          </a:xfrm>
          <a:prstGeom prst="line">
            <a:avLst/>
          </a:prstGeom>
          <a:noFill/>
          <a:ln w="13970">
            <a:solidFill>
              <a:srgbClr val="64748B"/>
            </a:solidFill>
            <a:prstDash val="solid"/>
            <a:tailEnd type="triangle"/>
          </a:ln>
        </p:spPr>
        <p:txBody>
          <a:bodyPr/>
          <a:p/>
        </p:txBody>
      </p:sp>
      <p:sp>
        <p:nvSpPr>
          <p:cNvPr id="9" name="Shape 7"/>
          <p:cNvSpPr/>
          <p:nvPr/>
        </p:nvSpPr>
        <p:spPr>
          <a:xfrm>
            <a:off x="3840480" y="2468880"/>
            <a:ext cx="2194560" cy="777240"/>
          </a:xfrm>
          <a:prstGeom prst="rect">
            <a:avLst/>
          </a:prstGeom>
          <a:solidFill>
            <a:srgbClr val="0B1E3F"/>
          </a:solidFill>
          <a:ln w="15875">
            <a:solidFill>
              <a:srgbClr val="0B1E3F"/>
            </a:solidFill>
            <a:prstDash val="solid"/>
          </a:ln>
        </p:spPr>
        <p:txBody>
          <a:bodyPr/>
          <a:p/>
        </p:txBody>
      </p:sp>
      <p:sp>
        <p:nvSpPr>
          <p:cNvPr id="10" name="Text 8"/>
          <p:cNvSpPr/>
          <p:nvPr/>
        </p:nvSpPr>
        <p:spPr>
          <a:xfrm>
            <a:off x="3886200" y="2505456"/>
            <a:ext cx="2103120" cy="42748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Supervisor (LangGraph)</a:t>
            </a:r>
            <a:endParaRPr lang="en-US" sz="1150" dirty="0"/>
          </a:p>
        </p:txBody>
      </p:sp>
      <p:sp>
        <p:nvSpPr>
          <p:cNvPr id="11" name="Text 9"/>
          <p:cNvSpPr/>
          <p:nvPr/>
        </p:nvSpPr>
        <p:spPr>
          <a:xfrm>
            <a:off x="3886200" y="2896362"/>
            <a:ext cx="2103120" cy="326441"/>
          </a:xfrm>
          <a:prstGeom prst="rect">
            <a:avLst/>
          </a:prstGeom>
          <a:noFill/>
          <a:ln/>
        </p:spPr>
        <p:txBody>
          <a:bodyPr wrap="square" lIns="0" tIns="0" rIns="0" bIns="0" rtlCol="0" anchor="ctr"/>
          <a:lstStyle/>
          <a:p>
            <a:pPr algn="ctr" indent="0" marL="0">
              <a:buNone/>
            </a:pPr>
            <a:r>
              <a:rPr lang="en-US" sz="900" dirty="0">
                <a:solidFill>
                  <a:srgbClr val="CBD5E1"/>
                </a:solidFill>
                <a:latin typeface="Calibri" pitchFamily="34" charset="0"/>
                <a:ea typeface="Calibri" pitchFamily="34" charset="-122"/>
                <a:cs typeface="Calibri" pitchFamily="34" charset="-120"/>
              </a:rPr>
              <a:t>State machine · Checkpoints</a:t>
            </a:r>
            <a:endParaRPr lang="en-US" sz="900" dirty="0"/>
          </a:p>
        </p:txBody>
      </p:sp>
      <p:sp>
        <p:nvSpPr>
          <p:cNvPr id="12" name="Shape 10"/>
          <p:cNvSpPr/>
          <p:nvPr/>
        </p:nvSpPr>
        <p:spPr>
          <a:xfrm>
            <a:off x="6217920" y="2011680"/>
            <a:ext cx="-1280160" cy="457200"/>
          </a:xfrm>
          <a:prstGeom prst="line">
            <a:avLst/>
          </a:prstGeom>
          <a:noFill/>
          <a:ln w="13970">
            <a:solidFill>
              <a:srgbClr val="64748B"/>
            </a:solidFill>
            <a:prstDash val="solid"/>
            <a:tailEnd type="triangle"/>
          </a:ln>
        </p:spPr>
        <p:txBody>
          <a:bodyPr/>
          <a:p/>
        </p:txBody>
      </p:sp>
      <p:sp>
        <p:nvSpPr>
          <p:cNvPr id="13" name="Shape 11"/>
          <p:cNvSpPr/>
          <p:nvPr/>
        </p:nvSpPr>
        <p:spPr>
          <a:xfrm>
            <a:off x="640080" y="3657600"/>
            <a:ext cx="2011680" cy="914400"/>
          </a:xfrm>
          <a:prstGeom prst="rect">
            <a:avLst/>
          </a:prstGeom>
          <a:solidFill>
            <a:srgbClr val="F8FAFC"/>
          </a:solidFill>
          <a:ln w="15875">
            <a:solidFill>
              <a:srgbClr val="0EA5A5"/>
            </a:solidFill>
            <a:prstDash val="solid"/>
          </a:ln>
        </p:spPr>
        <p:txBody>
          <a:bodyPr/>
          <a:p/>
        </p:txBody>
      </p:sp>
      <p:sp>
        <p:nvSpPr>
          <p:cNvPr id="14" name="Text 12"/>
          <p:cNvSpPr/>
          <p:nvPr/>
        </p:nvSpPr>
        <p:spPr>
          <a:xfrm>
            <a:off x="685800" y="3694176"/>
            <a:ext cx="1920240" cy="5029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Triage Agent</a:t>
            </a:r>
            <a:endParaRPr lang="en-US" sz="1200" dirty="0"/>
          </a:p>
        </p:txBody>
      </p:sp>
      <p:sp>
        <p:nvSpPr>
          <p:cNvPr id="15" name="Text 13"/>
          <p:cNvSpPr/>
          <p:nvPr/>
        </p:nvSpPr>
        <p:spPr>
          <a:xfrm>
            <a:off x="685800" y="4160520"/>
            <a:ext cx="192024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Tools: Knowledge RAG · Past Tickets</a:t>
            </a:r>
            <a:endParaRPr lang="en-US" sz="900" dirty="0"/>
          </a:p>
        </p:txBody>
      </p:sp>
      <p:sp>
        <p:nvSpPr>
          <p:cNvPr id="16" name="Shape 14"/>
          <p:cNvSpPr/>
          <p:nvPr/>
        </p:nvSpPr>
        <p:spPr>
          <a:xfrm>
            <a:off x="4937760" y="3246120"/>
            <a:ext cx="-3291840" cy="411480"/>
          </a:xfrm>
          <a:prstGeom prst="line">
            <a:avLst/>
          </a:prstGeom>
          <a:noFill/>
          <a:ln w="13970">
            <a:solidFill>
              <a:srgbClr val="64748B"/>
            </a:solidFill>
            <a:prstDash val="solid"/>
            <a:tailEnd type="triangle"/>
          </a:ln>
        </p:spPr>
        <p:txBody>
          <a:bodyPr/>
          <a:p/>
        </p:txBody>
      </p:sp>
      <p:sp>
        <p:nvSpPr>
          <p:cNvPr id="17" name="Shape 15"/>
          <p:cNvSpPr/>
          <p:nvPr/>
        </p:nvSpPr>
        <p:spPr>
          <a:xfrm>
            <a:off x="2834640" y="3657600"/>
            <a:ext cx="2011680" cy="914400"/>
          </a:xfrm>
          <a:prstGeom prst="rect">
            <a:avLst/>
          </a:prstGeom>
          <a:solidFill>
            <a:srgbClr val="F8FAFC"/>
          </a:solidFill>
          <a:ln w="15875">
            <a:solidFill>
              <a:srgbClr val="0EA5A5"/>
            </a:solidFill>
            <a:prstDash val="solid"/>
          </a:ln>
        </p:spPr>
        <p:txBody>
          <a:bodyPr/>
          <a:p/>
        </p:txBody>
      </p:sp>
      <p:sp>
        <p:nvSpPr>
          <p:cNvPr id="18" name="Text 16"/>
          <p:cNvSpPr/>
          <p:nvPr/>
        </p:nvSpPr>
        <p:spPr>
          <a:xfrm>
            <a:off x="2880360" y="3694176"/>
            <a:ext cx="1920240" cy="5029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Router Agent</a:t>
            </a:r>
            <a:endParaRPr lang="en-US" sz="1200" dirty="0"/>
          </a:p>
        </p:txBody>
      </p:sp>
      <p:sp>
        <p:nvSpPr>
          <p:cNvPr id="19" name="Text 17"/>
          <p:cNvSpPr/>
          <p:nvPr/>
        </p:nvSpPr>
        <p:spPr>
          <a:xfrm>
            <a:off x="2880360" y="4160520"/>
            <a:ext cx="192024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Tools: Entra ID · Queue Service</a:t>
            </a:r>
            <a:endParaRPr lang="en-US" sz="900" dirty="0"/>
          </a:p>
        </p:txBody>
      </p:sp>
      <p:sp>
        <p:nvSpPr>
          <p:cNvPr id="20" name="Shape 18"/>
          <p:cNvSpPr/>
          <p:nvPr/>
        </p:nvSpPr>
        <p:spPr>
          <a:xfrm>
            <a:off x="4937760" y="3246120"/>
            <a:ext cx="-1097280" cy="411480"/>
          </a:xfrm>
          <a:prstGeom prst="line">
            <a:avLst/>
          </a:prstGeom>
          <a:noFill/>
          <a:ln w="13970">
            <a:solidFill>
              <a:srgbClr val="64748B"/>
            </a:solidFill>
            <a:prstDash val="solid"/>
            <a:tailEnd type="triangle"/>
          </a:ln>
        </p:spPr>
        <p:txBody>
          <a:bodyPr/>
          <a:p/>
        </p:txBody>
      </p:sp>
      <p:sp>
        <p:nvSpPr>
          <p:cNvPr id="21" name="Shape 19"/>
          <p:cNvSpPr/>
          <p:nvPr/>
        </p:nvSpPr>
        <p:spPr>
          <a:xfrm>
            <a:off x="5029200" y="3657600"/>
            <a:ext cx="2011680" cy="914400"/>
          </a:xfrm>
          <a:prstGeom prst="rect">
            <a:avLst/>
          </a:prstGeom>
          <a:solidFill>
            <a:srgbClr val="F8FAFC"/>
          </a:solidFill>
          <a:ln w="15875">
            <a:solidFill>
              <a:srgbClr val="0EA5A5"/>
            </a:solidFill>
            <a:prstDash val="solid"/>
          </a:ln>
        </p:spPr>
        <p:txBody>
          <a:bodyPr/>
          <a:p/>
        </p:txBody>
      </p:sp>
      <p:sp>
        <p:nvSpPr>
          <p:cNvPr id="22" name="Text 20"/>
          <p:cNvSpPr/>
          <p:nvPr/>
        </p:nvSpPr>
        <p:spPr>
          <a:xfrm>
            <a:off x="5074920" y="3694176"/>
            <a:ext cx="1920240" cy="5029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Enricher Agent</a:t>
            </a:r>
            <a:endParaRPr lang="en-US" sz="1200" dirty="0"/>
          </a:p>
        </p:txBody>
      </p:sp>
      <p:sp>
        <p:nvSpPr>
          <p:cNvPr id="23" name="Text 21"/>
          <p:cNvSpPr/>
          <p:nvPr/>
        </p:nvSpPr>
        <p:spPr>
          <a:xfrm>
            <a:off x="5074920" y="4160520"/>
            <a:ext cx="192024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Tools: CRM · Network Inventory</a:t>
            </a:r>
            <a:endParaRPr lang="en-US" sz="900" dirty="0"/>
          </a:p>
        </p:txBody>
      </p:sp>
      <p:sp>
        <p:nvSpPr>
          <p:cNvPr id="24" name="Shape 22"/>
          <p:cNvSpPr/>
          <p:nvPr/>
        </p:nvSpPr>
        <p:spPr>
          <a:xfrm>
            <a:off x="4937760" y="3246120"/>
            <a:ext cx="1097280" cy="411480"/>
          </a:xfrm>
          <a:prstGeom prst="line">
            <a:avLst/>
          </a:prstGeom>
          <a:noFill/>
          <a:ln w="13970">
            <a:solidFill>
              <a:srgbClr val="64748B"/>
            </a:solidFill>
            <a:prstDash val="solid"/>
            <a:tailEnd type="triangle"/>
          </a:ln>
        </p:spPr>
        <p:txBody>
          <a:bodyPr/>
          <a:p/>
        </p:txBody>
      </p:sp>
      <p:sp>
        <p:nvSpPr>
          <p:cNvPr id="25" name="Shape 23"/>
          <p:cNvSpPr/>
          <p:nvPr/>
        </p:nvSpPr>
        <p:spPr>
          <a:xfrm>
            <a:off x="7223760" y="3657600"/>
            <a:ext cx="2011680" cy="914400"/>
          </a:xfrm>
          <a:prstGeom prst="rect">
            <a:avLst/>
          </a:prstGeom>
          <a:solidFill>
            <a:srgbClr val="F8FAFC"/>
          </a:solidFill>
          <a:ln w="15875">
            <a:solidFill>
              <a:srgbClr val="0EA5A5"/>
            </a:solidFill>
            <a:prstDash val="solid"/>
          </a:ln>
        </p:spPr>
        <p:txBody>
          <a:bodyPr/>
          <a:p/>
        </p:txBody>
      </p:sp>
      <p:sp>
        <p:nvSpPr>
          <p:cNvPr id="26" name="Text 24"/>
          <p:cNvSpPr/>
          <p:nvPr/>
        </p:nvSpPr>
        <p:spPr>
          <a:xfrm>
            <a:off x="7269480" y="3694176"/>
            <a:ext cx="1920240" cy="50292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Drafter Agent</a:t>
            </a:r>
            <a:endParaRPr lang="en-US" sz="1200" dirty="0"/>
          </a:p>
        </p:txBody>
      </p:sp>
      <p:sp>
        <p:nvSpPr>
          <p:cNvPr id="27" name="Text 25"/>
          <p:cNvSpPr/>
          <p:nvPr/>
        </p:nvSpPr>
        <p:spPr>
          <a:xfrm>
            <a:off x="7269480" y="4160520"/>
            <a:ext cx="192024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Tools: Templates · Compliance</a:t>
            </a:r>
            <a:endParaRPr lang="en-US" sz="900" dirty="0"/>
          </a:p>
        </p:txBody>
      </p:sp>
      <p:sp>
        <p:nvSpPr>
          <p:cNvPr id="28" name="Shape 26"/>
          <p:cNvSpPr/>
          <p:nvPr/>
        </p:nvSpPr>
        <p:spPr>
          <a:xfrm>
            <a:off x="4937760" y="3246120"/>
            <a:ext cx="3291840" cy="411480"/>
          </a:xfrm>
          <a:prstGeom prst="line">
            <a:avLst/>
          </a:prstGeom>
          <a:noFill/>
          <a:ln w="13970">
            <a:solidFill>
              <a:srgbClr val="64748B"/>
            </a:solidFill>
            <a:prstDash val="solid"/>
            <a:tailEnd type="triangle"/>
          </a:ln>
        </p:spPr>
        <p:txBody>
          <a:bodyPr/>
          <a:p/>
        </p:txBody>
      </p:sp>
      <p:sp>
        <p:nvSpPr>
          <p:cNvPr id="29" name="Text 27"/>
          <p:cNvSpPr/>
          <p:nvPr/>
        </p:nvSpPr>
        <p:spPr>
          <a:xfrm>
            <a:off x="9646920" y="1417320"/>
            <a:ext cx="2103120" cy="320040"/>
          </a:xfrm>
          <a:prstGeom prst="rect">
            <a:avLst/>
          </a:prstGeom>
          <a:noFill/>
          <a:ln/>
        </p:spPr>
        <p:txBody>
          <a:bodyPr wrap="square" lIns="0" tIns="0" rIns="0" bIns="0" rtlCol="0" anchor="ctr"/>
          <a:lstStyle/>
          <a:p>
            <a:pPr algn="l" indent="0" marL="0">
              <a:buNone/>
            </a:pPr>
            <a:r>
              <a:rPr lang="en-US" sz="1300" b="1" dirty="0">
                <a:solidFill>
                  <a:srgbClr val="0891B2"/>
                </a:solidFill>
                <a:latin typeface="Calibri" pitchFamily="34" charset="0"/>
                <a:ea typeface="Calibri" pitchFamily="34" charset="-122"/>
                <a:cs typeface="Calibri" pitchFamily="34" charset="-120"/>
              </a:rPr>
              <a:t>Memory</a:t>
            </a:r>
            <a:endParaRPr lang="en-US" sz="1300" dirty="0"/>
          </a:p>
        </p:txBody>
      </p:sp>
      <p:sp>
        <p:nvSpPr>
          <p:cNvPr id="30" name="Shape 28"/>
          <p:cNvSpPr/>
          <p:nvPr/>
        </p:nvSpPr>
        <p:spPr>
          <a:xfrm>
            <a:off x="9646920" y="1783080"/>
            <a:ext cx="2103120" cy="640080"/>
          </a:xfrm>
          <a:prstGeom prst="rect">
            <a:avLst/>
          </a:prstGeom>
          <a:solidFill>
            <a:srgbClr val="F8FAFC"/>
          </a:solidFill>
          <a:ln w="15875">
            <a:solidFill>
              <a:srgbClr val="0EA5A5"/>
            </a:solidFill>
            <a:prstDash val="solid"/>
          </a:ln>
        </p:spPr>
        <p:txBody>
          <a:bodyPr/>
          <a:p/>
        </p:txBody>
      </p:sp>
      <p:sp>
        <p:nvSpPr>
          <p:cNvPr id="31" name="Text 29"/>
          <p:cNvSpPr/>
          <p:nvPr/>
        </p:nvSpPr>
        <p:spPr>
          <a:xfrm>
            <a:off x="9692640" y="1819656"/>
            <a:ext cx="2011680" cy="35204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Short-term</a:t>
            </a:r>
            <a:endParaRPr lang="en-US" sz="1100" dirty="0"/>
          </a:p>
        </p:txBody>
      </p:sp>
      <p:sp>
        <p:nvSpPr>
          <p:cNvPr id="32" name="Text 30"/>
          <p:cNvSpPr/>
          <p:nvPr/>
        </p:nvSpPr>
        <p:spPr>
          <a:xfrm>
            <a:off x="9692640" y="2135124"/>
            <a:ext cx="2011680" cy="268834"/>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thread</a:t>
            </a:r>
            <a:endParaRPr lang="en-US" sz="900" dirty="0"/>
          </a:p>
        </p:txBody>
      </p:sp>
      <p:sp>
        <p:nvSpPr>
          <p:cNvPr id="33" name="Shape 31"/>
          <p:cNvSpPr/>
          <p:nvPr/>
        </p:nvSpPr>
        <p:spPr>
          <a:xfrm>
            <a:off x="9646920" y="2560320"/>
            <a:ext cx="2103120" cy="640080"/>
          </a:xfrm>
          <a:prstGeom prst="rect">
            <a:avLst/>
          </a:prstGeom>
          <a:solidFill>
            <a:srgbClr val="F8FAFC"/>
          </a:solidFill>
          <a:ln w="15875">
            <a:solidFill>
              <a:srgbClr val="0EA5A5"/>
            </a:solidFill>
            <a:prstDash val="solid"/>
          </a:ln>
        </p:spPr>
        <p:txBody>
          <a:bodyPr/>
          <a:p/>
        </p:txBody>
      </p:sp>
      <p:sp>
        <p:nvSpPr>
          <p:cNvPr id="34" name="Text 32"/>
          <p:cNvSpPr/>
          <p:nvPr/>
        </p:nvSpPr>
        <p:spPr>
          <a:xfrm>
            <a:off x="9692640" y="2596896"/>
            <a:ext cx="2011680" cy="35204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Episodic</a:t>
            </a:r>
            <a:endParaRPr lang="en-US" sz="1100" dirty="0"/>
          </a:p>
        </p:txBody>
      </p:sp>
      <p:sp>
        <p:nvSpPr>
          <p:cNvPr id="35" name="Text 33"/>
          <p:cNvSpPr/>
          <p:nvPr/>
        </p:nvSpPr>
        <p:spPr>
          <a:xfrm>
            <a:off x="9692640" y="2912364"/>
            <a:ext cx="2011680" cy="268834"/>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per-partner</a:t>
            </a:r>
            <a:endParaRPr lang="en-US" sz="900" dirty="0"/>
          </a:p>
        </p:txBody>
      </p:sp>
      <p:sp>
        <p:nvSpPr>
          <p:cNvPr id="36" name="Shape 34"/>
          <p:cNvSpPr/>
          <p:nvPr/>
        </p:nvSpPr>
        <p:spPr>
          <a:xfrm>
            <a:off x="9646920" y="3337560"/>
            <a:ext cx="2103120" cy="640080"/>
          </a:xfrm>
          <a:prstGeom prst="rect">
            <a:avLst/>
          </a:prstGeom>
          <a:solidFill>
            <a:srgbClr val="F8FAFC"/>
          </a:solidFill>
          <a:ln w="15875">
            <a:solidFill>
              <a:srgbClr val="0EA5A5"/>
            </a:solidFill>
            <a:prstDash val="solid"/>
          </a:ln>
        </p:spPr>
        <p:txBody>
          <a:bodyPr/>
          <a:p/>
        </p:txBody>
      </p:sp>
      <p:sp>
        <p:nvSpPr>
          <p:cNvPr id="37" name="Text 35"/>
          <p:cNvSpPr/>
          <p:nvPr/>
        </p:nvSpPr>
        <p:spPr>
          <a:xfrm>
            <a:off x="9692640" y="3374136"/>
            <a:ext cx="2011680" cy="352044"/>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Long-term</a:t>
            </a:r>
            <a:endParaRPr lang="en-US" sz="1100" dirty="0"/>
          </a:p>
        </p:txBody>
      </p:sp>
      <p:sp>
        <p:nvSpPr>
          <p:cNvPr id="38" name="Text 36"/>
          <p:cNvSpPr/>
          <p:nvPr/>
        </p:nvSpPr>
        <p:spPr>
          <a:xfrm>
            <a:off x="9692640" y="3689604"/>
            <a:ext cx="2011680" cy="268834"/>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vector + Postgres</a:t>
            </a:r>
            <a:endParaRPr lang="en-US" sz="900" dirty="0"/>
          </a:p>
        </p:txBody>
      </p:sp>
      <p:sp>
        <p:nvSpPr>
          <p:cNvPr id="39" name="Shape 37"/>
          <p:cNvSpPr/>
          <p:nvPr/>
        </p:nvSpPr>
        <p:spPr>
          <a:xfrm>
            <a:off x="6035040" y="2857500"/>
            <a:ext cx="3611880" cy="22860"/>
          </a:xfrm>
          <a:prstGeom prst="line">
            <a:avLst/>
          </a:prstGeom>
          <a:noFill/>
          <a:ln w="13970">
            <a:solidFill>
              <a:srgbClr val="64748B"/>
            </a:solidFill>
            <a:prstDash val="dash"/>
            <a:tailEnd type="triangle"/>
          </a:ln>
        </p:spPr>
        <p:txBody>
          <a:bodyPr/>
          <a:p/>
        </p:txBody>
      </p:sp>
      <p:sp>
        <p:nvSpPr>
          <p:cNvPr id="40" name="Shape 38"/>
          <p:cNvSpPr/>
          <p:nvPr/>
        </p:nvSpPr>
        <p:spPr>
          <a:xfrm>
            <a:off x="502920" y="4983480"/>
            <a:ext cx="5852160" cy="777240"/>
          </a:xfrm>
          <a:prstGeom prst="rect">
            <a:avLst/>
          </a:prstGeom>
          <a:solidFill>
            <a:srgbClr val="F8FAFC"/>
          </a:solidFill>
          <a:ln w="15875">
            <a:solidFill>
              <a:srgbClr val="0891B2"/>
            </a:solidFill>
            <a:prstDash val="solid"/>
          </a:ln>
        </p:spPr>
        <p:txBody>
          <a:bodyPr/>
          <a:p/>
        </p:txBody>
      </p:sp>
      <p:sp>
        <p:nvSpPr>
          <p:cNvPr id="41" name="Text 39"/>
          <p:cNvSpPr/>
          <p:nvPr/>
        </p:nvSpPr>
        <p:spPr>
          <a:xfrm>
            <a:off x="548640" y="5020056"/>
            <a:ext cx="5760720" cy="42748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Observability + Eval Pipeline</a:t>
            </a:r>
            <a:endParaRPr lang="en-US" sz="1150" dirty="0"/>
          </a:p>
        </p:txBody>
      </p:sp>
      <p:sp>
        <p:nvSpPr>
          <p:cNvPr id="42" name="Text 40"/>
          <p:cNvSpPr/>
          <p:nvPr/>
        </p:nvSpPr>
        <p:spPr>
          <a:xfrm>
            <a:off x="548640" y="5410962"/>
            <a:ext cx="5760720" cy="326441"/>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OpenTelemetry · Replay · Golden-set regressions</a:t>
            </a:r>
            <a:endParaRPr lang="en-US" sz="900" dirty="0"/>
          </a:p>
        </p:txBody>
      </p:sp>
      <p:sp>
        <p:nvSpPr>
          <p:cNvPr id="43" name="Shape 41"/>
          <p:cNvSpPr/>
          <p:nvPr/>
        </p:nvSpPr>
        <p:spPr>
          <a:xfrm>
            <a:off x="6537960" y="4983480"/>
            <a:ext cx="5120640" cy="777240"/>
          </a:xfrm>
          <a:prstGeom prst="rect">
            <a:avLst/>
          </a:prstGeom>
          <a:solidFill>
            <a:srgbClr val="F8FAFC"/>
          </a:solidFill>
          <a:ln w="15875">
            <a:solidFill>
              <a:srgbClr val="0891B2"/>
            </a:solidFill>
            <a:prstDash val="solid"/>
          </a:ln>
        </p:spPr>
        <p:txBody>
          <a:bodyPr/>
          <a:p/>
        </p:txBody>
      </p:sp>
      <p:sp>
        <p:nvSpPr>
          <p:cNvPr id="44" name="Text 42"/>
          <p:cNvSpPr/>
          <p:nvPr/>
        </p:nvSpPr>
        <p:spPr>
          <a:xfrm>
            <a:off x="6583680" y="5020056"/>
            <a:ext cx="5029200" cy="42748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Human-in-the-loop on outbound</a:t>
            </a:r>
            <a:endParaRPr lang="en-US" sz="1150" dirty="0"/>
          </a:p>
        </p:txBody>
      </p:sp>
      <p:sp>
        <p:nvSpPr>
          <p:cNvPr id="45" name="Text 43"/>
          <p:cNvSpPr/>
          <p:nvPr/>
        </p:nvSpPr>
        <p:spPr>
          <a:xfrm>
            <a:off x="6583680" y="5410962"/>
            <a:ext cx="5029200" cy="326441"/>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Approval before any partner-visible response</a:t>
            </a:r>
            <a:endParaRPr lang="en-US" sz="900" dirty="0"/>
          </a:p>
        </p:txBody>
      </p:sp>
      <p:sp>
        <p:nvSpPr>
          <p:cNvPr id="46" name="Text 4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47" name="Text 4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Agentic framework choice</a:t>
            </a:r>
            <a:endParaRPr lang="en-US" sz="3000" dirty="0"/>
          </a:p>
        </p:txBody>
      </p:sp>
      <p:sp>
        <p:nvSpPr>
          <p:cNvPr id="4" name="Shape 2"/>
          <p:cNvSpPr/>
          <p:nvPr/>
        </p:nvSpPr>
        <p:spPr>
          <a:xfrm>
            <a:off x="502920" y="1508760"/>
            <a:ext cx="3657600" cy="4114800"/>
          </a:xfrm>
          <a:prstGeom prst="rect">
            <a:avLst/>
          </a:prstGeom>
          <a:solidFill>
            <a:srgbClr val="ECFEFF"/>
          </a:solidFill>
          <a:ln w="12700">
            <a:solidFill>
              <a:srgbClr val="E2E8F0"/>
            </a:solidFill>
            <a:prstDash val="solid"/>
          </a:ln>
        </p:spPr>
        <p:txBody>
          <a:bodyPr/>
          <a:p/>
        </p:txBody>
      </p:sp>
      <p:sp>
        <p:nvSpPr>
          <p:cNvPr id="5" name="Shape 3"/>
          <p:cNvSpPr/>
          <p:nvPr/>
        </p:nvSpPr>
        <p:spPr>
          <a:xfrm>
            <a:off x="502920" y="1508760"/>
            <a:ext cx="73152" cy="4114800"/>
          </a:xfrm>
          <a:prstGeom prst="rect">
            <a:avLst/>
          </a:prstGeom>
          <a:solidFill>
            <a:srgbClr val="0EA5A5"/>
          </a:solidFill>
          <a:ln w="12700">
            <a:solidFill>
              <a:srgbClr val="0EA5A5"/>
            </a:solidFill>
            <a:prstDash val="solid"/>
          </a:ln>
        </p:spPr>
        <p:txBody>
          <a:bodyPr/>
          <a:p/>
        </p:txBody>
      </p:sp>
      <p:sp>
        <p:nvSpPr>
          <p:cNvPr id="6" name="Shape 4"/>
          <p:cNvSpPr/>
          <p:nvPr/>
        </p:nvSpPr>
        <p:spPr>
          <a:xfrm>
            <a:off x="2880360" y="1737360"/>
            <a:ext cx="1051560" cy="365760"/>
          </a:xfrm>
          <a:prstGeom prst="rect">
            <a:avLst/>
          </a:prstGeom>
          <a:solidFill>
            <a:srgbClr val="0EA5A5"/>
          </a:solidFill>
          <a:ln w="12700">
            <a:solidFill>
              <a:srgbClr val="0EA5A5"/>
            </a:solidFill>
            <a:prstDash val="solid"/>
          </a:ln>
        </p:spPr>
        <p:txBody>
          <a:bodyPr/>
          <a:p/>
        </p:txBody>
      </p:sp>
      <p:sp>
        <p:nvSpPr>
          <p:cNvPr id="7" name="Text 5"/>
          <p:cNvSpPr/>
          <p:nvPr/>
        </p:nvSpPr>
        <p:spPr>
          <a:xfrm>
            <a:off x="2880360" y="1737360"/>
            <a:ext cx="1051560" cy="365760"/>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CHOSEN</a:t>
            </a:r>
            <a:endParaRPr lang="en-US" sz="1100" dirty="0"/>
          </a:p>
        </p:txBody>
      </p:sp>
      <p:sp>
        <p:nvSpPr>
          <p:cNvPr id="8" name="Text 6"/>
          <p:cNvSpPr/>
          <p:nvPr/>
        </p:nvSpPr>
        <p:spPr>
          <a:xfrm>
            <a:off x="777240" y="1783080"/>
            <a:ext cx="2103120" cy="7772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LangChain + LangGraph 1.x</a:t>
            </a:r>
            <a:endParaRPr lang="en-US" sz="1600" dirty="0"/>
          </a:p>
        </p:txBody>
      </p:sp>
      <p:sp>
        <p:nvSpPr>
          <p:cNvPr id="9" name="Shape 7"/>
          <p:cNvSpPr/>
          <p:nvPr/>
        </p:nvSpPr>
        <p:spPr>
          <a:xfrm>
            <a:off x="795528" y="2879725"/>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33272" y="27889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Graph-based orchestration with deterministic tool-call control</a:t>
            </a:r>
            <a:endParaRPr lang="en-US" sz="1300" dirty="0"/>
          </a:p>
        </p:txBody>
      </p:sp>
      <p:sp>
        <p:nvSpPr>
          <p:cNvPr id="11" name="Shape 9"/>
          <p:cNvSpPr/>
          <p:nvPr/>
        </p:nvSpPr>
        <p:spPr>
          <a:xfrm>
            <a:off x="795528" y="3565525"/>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33272" y="34747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Built-in state checkpointing</a:t>
            </a:r>
            <a:endParaRPr lang="en-US" sz="1300" dirty="0"/>
          </a:p>
        </p:txBody>
      </p:sp>
      <p:sp>
        <p:nvSpPr>
          <p:cNvPr id="13" name="Shape 11"/>
          <p:cNvSpPr/>
          <p:nvPr/>
        </p:nvSpPr>
        <p:spPr>
          <a:xfrm>
            <a:off x="795528" y="4251325"/>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33272" y="41605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Mature observability hooks</a:t>
            </a:r>
            <a:endParaRPr lang="en-US" sz="1300" dirty="0"/>
          </a:p>
        </p:txBody>
      </p:sp>
      <p:sp>
        <p:nvSpPr>
          <p:cNvPr id="15" name="Shape 13"/>
          <p:cNvSpPr/>
          <p:nvPr/>
        </p:nvSpPr>
        <p:spPr>
          <a:xfrm>
            <a:off x="795528" y="4937125"/>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33272" y="48463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Python ecosystem strongest for retrieval and eval</a:t>
            </a:r>
            <a:endParaRPr lang="en-US" sz="1300" dirty="0"/>
          </a:p>
        </p:txBody>
      </p:sp>
      <p:sp>
        <p:nvSpPr>
          <p:cNvPr id="17" name="Shape 15"/>
          <p:cNvSpPr/>
          <p:nvPr/>
        </p:nvSpPr>
        <p:spPr>
          <a:xfrm>
            <a:off x="4389120" y="1508760"/>
            <a:ext cx="3657600" cy="4114800"/>
          </a:xfrm>
          <a:prstGeom prst="rect">
            <a:avLst/>
          </a:prstGeom>
          <a:solidFill>
            <a:srgbClr val="F8FAFC"/>
          </a:solidFill>
          <a:ln w="12700">
            <a:solidFill>
              <a:srgbClr val="E2E8F0"/>
            </a:solidFill>
            <a:prstDash val="solid"/>
          </a:ln>
        </p:spPr>
        <p:txBody>
          <a:bodyPr/>
          <a:p/>
        </p:txBody>
      </p:sp>
      <p:sp>
        <p:nvSpPr>
          <p:cNvPr id="18" name="Shape 16"/>
          <p:cNvSpPr/>
          <p:nvPr/>
        </p:nvSpPr>
        <p:spPr>
          <a:xfrm>
            <a:off x="4389120" y="1508760"/>
            <a:ext cx="73152" cy="4114800"/>
          </a:xfrm>
          <a:prstGeom prst="rect">
            <a:avLst/>
          </a:prstGeom>
          <a:solidFill>
            <a:srgbClr val="E2E8F0"/>
          </a:solidFill>
          <a:ln w="12700">
            <a:solidFill>
              <a:srgbClr val="E2E8F0"/>
            </a:solidFill>
            <a:prstDash val="solid"/>
          </a:ln>
        </p:spPr>
        <p:txBody>
          <a:bodyPr/>
          <a:p/>
        </p:txBody>
      </p:sp>
      <p:sp>
        <p:nvSpPr>
          <p:cNvPr id="19" name="Text 17"/>
          <p:cNvSpPr/>
          <p:nvPr/>
        </p:nvSpPr>
        <p:spPr>
          <a:xfrm>
            <a:off x="4663440" y="1783080"/>
            <a:ext cx="2103120" cy="7772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Microsoft Semantic Kernel</a:t>
            </a:r>
            <a:endParaRPr lang="en-US" sz="1600" dirty="0"/>
          </a:p>
        </p:txBody>
      </p:sp>
      <p:sp>
        <p:nvSpPr>
          <p:cNvPr id="20" name="Shape 18"/>
          <p:cNvSpPr/>
          <p:nvPr/>
        </p:nvSpPr>
        <p:spPr>
          <a:xfrm>
            <a:off x="4681728" y="2879725"/>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4919472" y="27889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Considered: native fit for Microsoft estate (Entra ID, Azure)</a:t>
            </a:r>
            <a:endParaRPr lang="en-US" sz="1300" dirty="0"/>
          </a:p>
        </p:txBody>
      </p:sp>
      <p:sp>
        <p:nvSpPr>
          <p:cNvPr id="22" name="Shape 20"/>
          <p:cNvSpPr/>
          <p:nvPr/>
        </p:nvSpPr>
        <p:spPr>
          <a:xfrm>
            <a:off x="4681728" y="3565525"/>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4919472" y="34747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Not chosen: less idiomatic outside .NET</a:t>
            </a:r>
            <a:endParaRPr lang="en-US" sz="1300" dirty="0"/>
          </a:p>
        </p:txBody>
      </p:sp>
      <p:sp>
        <p:nvSpPr>
          <p:cNvPr id="24" name="Shape 22"/>
          <p:cNvSpPr/>
          <p:nvPr/>
        </p:nvSpPr>
        <p:spPr>
          <a:xfrm>
            <a:off x="4681728" y="4251325"/>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4919472" y="41605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Smaller agent-orchestration patterns library</a:t>
            </a:r>
            <a:endParaRPr lang="en-US" sz="1300" dirty="0"/>
          </a:p>
        </p:txBody>
      </p:sp>
      <p:sp>
        <p:nvSpPr>
          <p:cNvPr id="26" name="Shape 24"/>
          <p:cNvSpPr/>
          <p:nvPr/>
        </p:nvSpPr>
        <p:spPr>
          <a:xfrm>
            <a:off x="8275320" y="1508760"/>
            <a:ext cx="3657600" cy="4114800"/>
          </a:xfrm>
          <a:prstGeom prst="rect">
            <a:avLst/>
          </a:prstGeom>
          <a:solidFill>
            <a:srgbClr val="F8FAFC"/>
          </a:solidFill>
          <a:ln w="12700">
            <a:solidFill>
              <a:srgbClr val="E2E8F0"/>
            </a:solidFill>
            <a:prstDash val="solid"/>
          </a:ln>
        </p:spPr>
        <p:txBody>
          <a:bodyPr/>
          <a:p/>
        </p:txBody>
      </p:sp>
      <p:sp>
        <p:nvSpPr>
          <p:cNvPr id="27" name="Shape 25"/>
          <p:cNvSpPr/>
          <p:nvPr/>
        </p:nvSpPr>
        <p:spPr>
          <a:xfrm>
            <a:off x="8275320" y="1508760"/>
            <a:ext cx="73152" cy="4114800"/>
          </a:xfrm>
          <a:prstGeom prst="rect">
            <a:avLst/>
          </a:prstGeom>
          <a:solidFill>
            <a:srgbClr val="E2E8F0"/>
          </a:solidFill>
          <a:ln w="12700">
            <a:solidFill>
              <a:srgbClr val="E2E8F0"/>
            </a:solidFill>
            <a:prstDash val="solid"/>
          </a:ln>
        </p:spPr>
        <p:txBody>
          <a:bodyPr/>
          <a:p/>
        </p:txBody>
      </p:sp>
      <p:sp>
        <p:nvSpPr>
          <p:cNvPr id="28" name="Text 26"/>
          <p:cNvSpPr/>
          <p:nvPr/>
        </p:nvSpPr>
        <p:spPr>
          <a:xfrm>
            <a:off x="8549640" y="1783080"/>
            <a:ext cx="2103120" cy="7772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OpenAI Assistants / Bedrock Agents</a:t>
            </a:r>
            <a:endParaRPr lang="en-US" sz="1600" dirty="0"/>
          </a:p>
        </p:txBody>
      </p:sp>
      <p:sp>
        <p:nvSpPr>
          <p:cNvPr id="29" name="Shape 27"/>
          <p:cNvSpPr/>
          <p:nvPr/>
        </p:nvSpPr>
        <p:spPr>
          <a:xfrm>
            <a:off x="8567928" y="2879725"/>
            <a:ext cx="109728" cy="109728"/>
          </a:xfrm>
          <a:prstGeom prst="ellipse">
            <a:avLst/>
          </a:prstGeom>
          <a:solidFill>
            <a:srgbClr val="0EA5A5"/>
          </a:solidFill>
          <a:ln w="12700">
            <a:solidFill>
              <a:srgbClr val="0EA5A5"/>
            </a:solidFill>
            <a:prstDash val="solid"/>
          </a:ln>
        </p:spPr>
        <p:txBody>
          <a:bodyPr/>
          <a:p/>
        </p:txBody>
      </p:sp>
      <p:sp>
        <p:nvSpPr>
          <p:cNvPr id="30" name="Text 28"/>
          <p:cNvSpPr/>
          <p:nvPr/>
        </p:nvSpPr>
        <p:spPr>
          <a:xfrm>
            <a:off x="8805672" y="27889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Considered: managed runtime</a:t>
            </a:r>
            <a:endParaRPr lang="en-US" sz="1300" dirty="0"/>
          </a:p>
        </p:txBody>
      </p:sp>
      <p:sp>
        <p:nvSpPr>
          <p:cNvPr id="31" name="Shape 29"/>
          <p:cNvSpPr/>
          <p:nvPr/>
        </p:nvSpPr>
        <p:spPr>
          <a:xfrm>
            <a:off x="8567928" y="3565525"/>
            <a:ext cx="109728" cy="109728"/>
          </a:xfrm>
          <a:prstGeom prst="ellipse">
            <a:avLst/>
          </a:prstGeom>
          <a:solidFill>
            <a:srgbClr val="0EA5A5"/>
          </a:solidFill>
          <a:ln w="12700">
            <a:solidFill>
              <a:srgbClr val="0EA5A5"/>
            </a:solidFill>
            <a:prstDash val="solid"/>
          </a:ln>
        </p:spPr>
        <p:txBody>
          <a:bodyPr/>
          <a:p/>
        </p:txBody>
      </p:sp>
      <p:sp>
        <p:nvSpPr>
          <p:cNvPr id="32" name="Text 30"/>
          <p:cNvSpPr/>
          <p:nvPr/>
        </p:nvSpPr>
        <p:spPr>
          <a:xfrm>
            <a:off x="8805672" y="34747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Not chosen: tighter vendor coupling</a:t>
            </a:r>
            <a:endParaRPr lang="en-US" sz="1300" dirty="0"/>
          </a:p>
        </p:txBody>
      </p:sp>
      <p:sp>
        <p:nvSpPr>
          <p:cNvPr id="33" name="Shape 31"/>
          <p:cNvSpPr/>
          <p:nvPr/>
        </p:nvSpPr>
        <p:spPr>
          <a:xfrm>
            <a:off x="8567928" y="4251325"/>
            <a:ext cx="109728" cy="109728"/>
          </a:xfrm>
          <a:prstGeom prst="ellipse">
            <a:avLst/>
          </a:prstGeom>
          <a:solidFill>
            <a:srgbClr val="0EA5A5"/>
          </a:solidFill>
          <a:ln w="12700">
            <a:solidFill>
              <a:srgbClr val="0EA5A5"/>
            </a:solidFill>
            <a:prstDash val="solid"/>
          </a:ln>
        </p:spPr>
        <p:txBody>
          <a:bodyPr/>
          <a:p/>
        </p:txBody>
      </p:sp>
      <p:sp>
        <p:nvSpPr>
          <p:cNvPr id="34" name="Text 32"/>
          <p:cNvSpPr/>
          <p:nvPr/>
        </p:nvSpPr>
        <p:spPr>
          <a:xfrm>
            <a:off x="8805672" y="4160520"/>
            <a:ext cx="2944368" cy="685800"/>
          </a:xfrm>
          <a:prstGeom prst="rect">
            <a:avLst/>
          </a:prstGeom>
          <a:noFill/>
          <a:ln/>
        </p:spPr>
        <p:txBody>
          <a:bodyPr wrap="square" lIns="0" tIns="0" rIns="0" bIns="0" rtlCol="0" anchor="t"/>
          <a:lstStyle/>
          <a:p>
            <a:pPr algn="l" indent="0" marL="0">
              <a:buNone/>
            </a:pPr>
            <a:r>
              <a:rPr lang="en-US" sz="1300" dirty="0">
                <a:solidFill>
                  <a:srgbClr val="0F172A"/>
                </a:solidFill>
                <a:latin typeface="Calibri" pitchFamily="34" charset="0"/>
                <a:ea typeface="Calibri" pitchFamily="34" charset="-122"/>
                <a:cs typeface="Calibri" pitchFamily="34" charset="-120"/>
              </a:rPr>
              <a:t>Weaker observability; less control over tool-call policy</a:t>
            </a:r>
            <a:endParaRPr lang="en-US" sz="1300" dirty="0"/>
          </a:p>
        </p:txBody>
      </p:sp>
      <p:sp>
        <p:nvSpPr>
          <p:cNvPr id="35" name="Text 33"/>
          <p:cNvSpPr/>
          <p:nvPr/>
        </p:nvSpPr>
        <p:spPr>
          <a:xfrm>
            <a:off x="548640" y="5852160"/>
            <a:ext cx="11064240" cy="45720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Java-side tools served via Spring AI / MCP shims; agent control plane in Python. Communication over Kafka and gRPC.</a:t>
            </a:r>
            <a:endParaRPr lang="en-US" sz="1100" dirty="0"/>
          </a:p>
        </p:txBody>
      </p:sp>
      <p:sp>
        <p:nvSpPr>
          <p:cNvPr id="36" name="Text 3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7" name="Text 3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Multi-agent orchestration &amp; tool use</a:t>
            </a:r>
            <a:endParaRPr lang="en-US" sz="3000" dirty="0"/>
          </a:p>
        </p:txBody>
      </p:sp>
      <p:sp>
        <p:nvSpPr>
          <p:cNvPr id="4" name="Shape 2"/>
          <p:cNvSpPr/>
          <p:nvPr/>
        </p:nvSpPr>
        <p:spPr>
          <a:xfrm>
            <a:off x="548640" y="1554480"/>
            <a:ext cx="54864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Orchestration pattern</a:t>
            </a:r>
            <a:endParaRPr lang="en-US" sz="1700" dirty="0"/>
          </a:p>
        </p:txBody>
      </p:sp>
      <p:sp>
        <p:nvSpPr>
          <p:cNvPr id="7" name="Shape 5"/>
          <p:cNvSpPr/>
          <p:nvPr/>
        </p:nvSpPr>
        <p:spPr>
          <a:xfrm>
            <a:off x="841248" y="2570163"/>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Supervisor + specialists (Triage / Router / Enricher / Drafter)</a:t>
            </a:r>
            <a:endParaRPr lang="en-US" sz="1450" dirty="0"/>
          </a:p>
        </p:txBody>
      </p:sp>
      <p:sp>
        <p:nvSpPr>
          <p:cNvPr id="9" name="Shape 7"/>
          <p:cNvSpPr/>
          <p:nvPr/>
        </p:nvSpPr>
        <p:spPr>
          <a:xfrm>
            <a:off x="841248" y="3210243"/>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10896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LangGraph state machine; checkpoints in Postgres</a:t>
            </a:r>
            <a:endParaRPr lang="en-US" sz="1450" dirty="0"/>
          </a:p>
        </p:txBody>
      </p:sp>
      <p:sp>
        <p:nvSpPr>
          <p:cNvPr id="11" name="Shape 9"/>
          <p:cNvSpPr/>
          <p:nvPr/>
        </p:nvSpPr>
        <p:spPr>
          <a:xfrm>
            <a:off x="841248" y="3850323"/>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374904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Parallel where independent (CRM + inventory lookup)</a:t>
            </a:r>
            <a:endParaRPr lang="en-US" sz="1450" dirty="0"/>
          </a:p>
        </p:txBody>
      </p:sp>
      <p:sp>
        <p:nvSpPr>
          <p:cNvPr id="13" name="Shape 11"/>
          <p:cNvSpPr/>
          <p:nvPr/>
        </p:nvSpPr>
        <p:spPr>
          <a:xfrm>
            <a:off x="841248" y="4490403"/>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438912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Sequential where dependent</a:t>
            </a:r>
            <a:endParaRPr lang="en-US" sz="1450" dirty="0"/>
          </a:p>
        </p:txBody>
      </p:sp>
      <p:sp>
        <p:nvSpPr>
          <p:cNvPr id="15" name="Shape 13"/>
          <p:cNvSpPr/>
          <p:nvPr/>
        </p:nvSpPr>
        <p:spPr>
          <a:xfrm>
            <a:off x="841248" y="5130483"/>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78992" y="502920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Explicit failure modes per node — never silent failure</a:t>
            </a:r>
            <a:endParaRPr lang="en-US" sz="1450" dirty="0"/>
          </a:p>
        </p:txBody>
      </p:sp>
      <p:sp>
        <p:nvSpPr>
          <p:cNvPr id="17" name="Shape 15"/>
          <p:cNvSpPr/>
          <p:nvPr/>
        </p:nvSpPr>
        <p:spPr>
          <a:xfrm>
            <a:off x="6309360" y="1554480"/>
            <a:ext cx="5486400" cy="4572000"/>
          </a:xfrm>
          <a:prstGeom prst="rect">
            <a:avLst/>
          </a:prstGeom>
          <a:solidFill>
            <a:srgbClr val="F8FAFC"/>
          </a:solidFill>
          <a:ln w="12700">
            <a:solidFill>
              <a:srgbClr val="E2E8F0"/>
            </a:solidFill>
            <a:prstDash val="solid"/>
          </a:ln>
        </p:spPr>
        <p:txBody>
          <a:bodyPr/>
          <a:p/>
        </p:txBody>
      </p:sp>
      <p:sp>
        <p:nvSpPr>
          <p:cNvPr id="18" name="Shape 16"/>
          <p:cNvSpPr/>
          <p:nvPr/>
        </p:nvSpPr>
        <p:spPr>
          <a:xfrm>
            <a:off x="6309360" y="1554480"/>
            <a:ext cx="73152" cy="4572000"/>
          </a:xfrm>
          <a:prstGeom prst="rect">
            <a:avLst/>
          </a:prstGeom>
          <a:solidFill>
            <a:srgbClr val="0EA5A5"/>
          </a:solidFill>
          <a:ln w="12700">
            <a:solidFill>
              <a:srgbClr val="0EA5A5"/>
            </a:solidFill>
            <a:prstDash val="solid"/>
          </a:ln>
        </p:spPr>
        <p:txBody>
          <a:bodyPr/>
          <a:p/>
        </p:txBody>
      </p:sp>
      <p:sp>
        <p:nvSpPr>
          <p:cNvPr id="19" name="Text 17"/>
          <p:cNvSpPr/>
          <p:nvPr/>
        </p:nvSpPr>
        <p:spPr>
          <a:xfrm>
            <a:off x="658368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Tool design</a:t>
            </a:r>
            <a:endParaRPr lang="en-US" sz="1700" dirty="0"/>
          </a:p>
        </p:txBody>
      </p:sp>
      <p:sp>
        <p:nvSpPr>
          <p:cNvPr id="20" name="Shape 18"/>
          <p:cNvSpPr/>
          <p:nvPr/>
        </p:nvSpPr>
        <p:spPr>
          <a:xfrm>
            <a:off x="6601968" y="2570163"/>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246888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Strict JSON schema per tool input/output</a:t>
            </a:r>
            <a:endParaRPr lang="en-US" sz="1450" dirty="0"/>
          </a:p>
        </p:txBody>
      </p:sp>
      <p:sp>
        <p:nvSpPr>
          <p:cNvPr id="22" name="Shape 20"/>
          <p:cNvSpPr/>
          <p:nvPr/>
        </p:nvSpPr>
        <p:spPr>
          <a:xfrm>
            <a:off x="6601968" y="3210243"/>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310896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Idempotency keys on side-effecting tools</a:t>
            </a:r>
            <a:endParaRPr lang="en-US" sz="1450" dirty="0"/>
          </a:p>
        </p:txBody>
      </p:sp>
      <p:sp>
        <p:nvSpPr>
          <p:cNvPr id="24" name="Shape 22"/>
          <p:cNvSpPr/>
          <p:nvPr/>
        </p:nvSpPr>
        <p:spPr>
          <a:xfrm>
            <a:off x="6601968" y="3850323"/>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6839712" y="374904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Retry with backoff + circuit breaker</a:t>
            </a:r>
            <a:endParaRPr lang="en-US" sz="1450" dirty="0"/>
          </a:p>
        </p:txBody>
      </p:sp>
      <p:sp>
        <p:nvSpPr>
          <p:cNvPr id="26" name="Shape 24"/>
          <p:cNvSpPr/>
          <p:nvPr/>
        </p:nvSpPr>
        <p:spPr>
          <a:xfrm>
            <a:off x="6601968" y="4490403"/>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6839712" y="438912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Allow-listed per agent (least-privilege)</a:t>
            </a:r>
            <a:endParaRPr lang="en-US" sz="1450" dirty="0"/>
          </a:p>
        </p:txBody>
      </p:sp>
      <p:sp>
        <p:nvSpPr>
          <p:cNvPr id="28" name="Shape 26"/>
          <p:cNvSpPr/>
          <p:nvPr/>
        </p:nvSpPr>
        <p:spPr>
          <a:xfrm>
            <a:off x="6601968" y="5130483"/>
            <a:ext cx="109728" cy="109728"/>
          </a:xfrm>
          <a:prstGeom prst="ellipse">
            <a:avLst/>
          </a:prstGeom>
          <a:solidFill>
            <a:srgbClr val="0EA5A5"/>
          </a:solidFill>
          <a:ln w="12700">
            <a:solidFill>
              <a:srgbClr val="0EA5A5"/>
            </a:solidFill>
            <a:prstDash val="solid"/>
          </a:ln>
        </p:spPr>
        <p:txBody>
          <a:bodyPr/>
          <a:p/>
        </p:txBody>
      </p:sp>
      <p:sp>
        <p:nvSpPr>
          <p:cNvPr id="29" name="Text 27"/>
          <p:cNvSpPr/>
          <p:nvPr/>
        </p:nvSpPr>
        <p:spPr>
          <a:xfrm>
            <a:off x="6839712" y="5029200"/>
            <a:ext cx="4773168" cy="64008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Surfaced via MCP for reuse across agents</a:t>
            </a:r>
            <a:endParaRPr lang="en-US" sz="1450" dirty="0"/>
          </a:p>
        </p:txBody>
      </p:sp>
      <p:sp>
        <p:nvSpPr>
          <p:cNvPr id="30" name="Text 2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1" name="Text 2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Memory &amp; RAG</a:t>
            </a:r>
            <a:endParaRPr lang="en-US" sz="3000" dirty="0"/>
          </a:p>
        </p:txBody>
      </p:sp>
      <p:sp>
        <p:nvSpPr>
          <p:cNvPr id="4" name="Shape 2"/>
          <p:cNvSpPr/>
          <p:nvPr/>
        </p:nvSpPr>
        <p:spPr>
          <a:xfrm>
            <a:off x="502920" y="1554480"/>
            <a:ext cx="36576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0292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Embeddings + Retrieval</a:t>
            </a:r>
            <a:endParaRPr lang="en-US" sz="1700" dirty="0"/>
          </a:p>
        </p:txBody>
      </p:sp>
      <p:sp>
        <p:nvSpPr>
          <p:cNvPr id="7" name="Shape 5"/>
          <p:cNvSpPr/>
          <p:nvPr/>
        </p:nvSpPr>
        <p:spPr>
          <a:xfrm>
            <a:off x="795528" y="2654617"/>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33272" y="256032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Domain-tuned embeddings over runbooks, past tickets, escalations</a:t>
            </a:r>
            <a:endParaRPr lang="en-US" sz="1350" dirty="0"/>
          </a:p>
        </p:txBody>
      </p:sp>
      <p:sp>
        <p:nvSpPr>
          <p:cNvPr id="9" name="Shape 7"/>
          <p:cNvSpPr/>
          <p:nvPr/>
        </p:nvSpPr>
        <p:spPr>
          <a:xfrm>
            <a:off x="795528" y="3431858"/>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33272" y="333756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Hybrid retrieval: BM25 + dense; cross-encoder re-ranker</a:t>
            </a:r>
            <a:endParaRPr lang="en-US" sz="1350" dirty="0"/>
          </a:p>
        </p:txBody>
      </p:sp>
      <p:sp>
        <p:nvSpPr>
          <p:cNvPr id="11" name="Shape 9"/>
          <p:cNvSpPr/>
          <p:nvPr/>
        </p:nvSpPr>
        <p:spPr>
          <a:xfrm>
            <a:off x="795528" y="4209098"/>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33272" y="411480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Chunking by semantic section, not fixed length</a:t>
            </a:r>
            <a:endParaRPr lang="en-US" sz="1350" dirty="0"/>
          </a:p>
        </p:txBody>
      </p:sp>
      <p:sp>
        <p:nvSpPr>
          <p:cNvPr id="13" name="Shape 11"/>
          <p:cNvSpPr/>
          <p:nvPr/>
        </p:nvSpPr>
        <p:spPr>
          <a:xfrm>
            <a:off x="4389120" y="1554480"/>
            <a:ext cx="3657600" cy="4572000"/>
          </a:xfrm>
          <a:prstGeom prst="rect">
            <a:avLst/>
          </a:prstGeom>
          <a:solidFill>
            <a:srgbClr val="F8FAFC"/>
          </a:solidFill>
          <a:ln w="12700">
            <a:solidFill>
              <a:srgbClr val="E2E8F0"/>
            </a:solidFill>
            <a:prstDash val="solid"/>
          </a:ln>
        </p:spPr>
        <p:txBody>
          <a:bodyPr/>
          <a:p/>
        </p:txBody>
      </p:sp>
      <p:sp>
        <p:nvSpPr>
          <p:cNvPr id="14" name="Shape 12"/>
          <p:cNvSpPr/>
          <p:nvPr/>
        </p:nvSpPr>
        <p:spPr>
          <a:xfrm>
            <a:off x="4389120" y="1554480"/>
            <a:ext cx="73152" cy="4572000"/>
          </a:xfrm>
          <a:prstGeom prst="rect">
            <a:avLst/>
          </a:prstGeom>
          <a:solidFill>
            <a:srgbClr val="0EA5A5"/>
          </a:solidFill>
          <a:ln w="12700">
            <a:solidFill>
              <a:srgbClr val="0EA5A5"/>
            </a:solidFill>
            <a:prstDash val="solid"/>
          </a:ln>
        </p:spPr>
        <p:txBody>
          <a:bodyPr/>
          <a:p/>
        </p:txBody>
      </p:sp>
      <p:sp>
        <p:nvSpPr>
          <p:cNvPr id="15" name="Text 13"/>
          <p:cNvSpPr/>
          <p:nvPr/>
        </p:nvSpPr>
        <p:spPr>
          <a:xfrm>
            <a:off x="46634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Memory layers</a:t>
            </a:r>
            <a:endParaRPr lang="en-US" sz="1700" dirty="0"/>
          </a:p>
        </p:txBody>
      </p:sp>
      <p:sp>
        <p:nvSpPr>
          <p:cNvPr id="16" name="Shape 14"/>
          <p:cNvSpPr/>
          <p:nvPr/>
        </p:nvSpPr>
        <p:spPr>
          <a:xfrm>
            <a:off x="4681728" y="2654617"/>
            <a:ext cx="109728" cy="109728"/>
          </a:xfrm>
          <a:prstGeom prst="ellipse">
            <a:avLst/>
          </a:prstGeom>
          <a:solidFill>
            <a:srgbClr val="0EA5A5"/>
          </a:solidFill>
          <a:ln w="12700">
            <a:solidFill>
              <a:srgbClr val="0EA5A5"/>
            </a:solidFill>
            <a:prstDash val="solid"/>
          </a:ln>
        </p:spPr>
        <p:txBody>
          <a:bodyPr/>
          <a:p/>
        </p:txBody>
      </p:sp>
      <p:sp>
        <p:nvSpPr>
          <p:cNvPr id="17" name="Text 15"/>
          <p:cNvSpPr/>
          <p:nvPr/>
        </p:nvSpPr>
        <p:spPr>
          <a:xfrm>
            <a:off x="4919472" y="256032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Short-term: rolling thread context</a:t>
            </a:r>
            <a:endParaRPr lang="en-US" sz="1350" dirty="0"/>
          </a:p>
        </p:txBody>
      </p:sp>
      <p:sp>
        <p:nvSpPr>
          <p:cNvPr id="18" name="Shape 16"/>
          <p:cNvSpPr/>
          <p:nvPr/>
        </p:nvSpPr>
        <p:spPr>
          <a:xfrm>
            <a:off x="4681728" y="3431858"/>
            <a:ext cx="109728" cy="109728"/>
          </a:xfrm>
          <a:prstGeom prst="ellipse">
            <a:avLst/>
          </a:prstGeom>
          <a:solidFill>
            <a:srgbClr val="0EA5A5"/>
          </a:solidFill>
          <a:ln w="12700">
            <a:solidFill>
              <a:srgbClr val="0EA5A5"/>
            </a:solidFill>
            <a:prstDash val="solid"/>
          </a:ln>
        </p:spPr>
        <p:txBody>
          <a:bodyPr/>
          <a:p/>
        </p:txBody>
      </p:sp>
      <p:sp>
        <p:nvSpPr>
          <p:cNvPr id="19" name="Text 17"/>
          <p:cNvSpPr/>
          <p:nvPr/>
        </p:nvSpPr>
        <p:spPr>
          <a:xfrm>
            <a:off x="4919472" y="333756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Episodic: per-partner profile (preferences, recent patterns)</a:t>
            </a:r>
            <a:endParaRPr lang="en-US" sz="1350" dirty="0"/>
          </a:p>
        </p:txBody>
      </p:sp>
      <p:sp>
        <p:nvSpPr>
          <p:cNvPr id="20" name="Shape 18"/>
          <p:cNvSpPr/>
          <p:nvPr/>
        </p:nvSpPr>
        <p:spPr>
          <a:xfrm>
            <a:off x="4681728" y="4209098"/>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4919472" y="411480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Long-term: org knowledge in vector store + structured facts in Postgres</a:t>
            </a:r>
            <a:endParaRPr lang="en-US" sz="1350" dirty="0"/>
          </a:p>
        </p:txBody>
      </p:sp>
      <p:sp>
        <p:nvSpPr>
          <p:cNvPr id="22" name="Shape 20"/>
          <p:cNvSpPr/>
          <p:nvPr/>
        </p:nvSpPr>
        <p:spPr>
          <a:xfrm>
            <a:off x="8275320" y="1554480"/>
            <a:ext cx="3657600" cy="4572000"/>
          </a:xfrm>
          <a:prstGeom prst="rect">
            <a:avLst/>
          </a:prstGeom>
          <a:solidFill>
            <a:srgbClr val="F8FAFC"/>
          </a:solidFill>
          <a:ln w="12700">
            <a:solidFill>
              <a:srgbClr val="E2E8F0"/>
            </a:solidFill>
            <a:prstDash val="solid"/>
          </a:ln>
        </p:spPr>
        <p:txBody>
          <a:bodyPr/>
          <a:p/>
        </p:txBody>
      </p:sp>
      <p:sp>
        <p:nvSpPr>
          <p:cNvPr id="23" name="Shape 21"/>
          <p:cNvSpPr/>
          <p:nvPr/>
        </p:nvSpPr>
        <p:spPr>
          <a:xfrm>
            <a:off x="8275320" y="1554480"/>
            <a:ext cx="73152" cy="4572000"/>
          </a:xfrm>
          <a:prstGeom prst="rect">
            <a:avLst/>
          </a:prstGeom>
          <a:solidFill>
            <a:srgbClr val="0EA5A5"/>
          </a:solidFill>
          <a:ln w="12700">
            <a:solidFill>
              <a:srgbClr val="0EA5A5"/>
            </a:solidFill>
            <a:prstDash val="solid"/>
          </a:ln>
        </p:spPr>
        <p:txBody>
          <a:bodyPr/>
          <a:p/>
        </p:txBody>
      </p:sp>
      <p:sp>
        <p:nvSpPr>
          <p:cNvPr id="24" name="Text 22"/>
          <p:cNvSpPr/>
          <p:nvPr/>
        </p:nvSpPr>
        <p:spPr>
          <a:xfrm>
            <a:off x="85496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Freshness + safety</a:t>
            </a:r>
            <a:endParaRPr lang="en-US" sz="1700" dirty="0"/>
          </a:p>
        </p:txBody>
      </p:sp>
      <p:sp>
        <p:nvSpPr>
          <p:cNvPr id="25" name="Shape 23"/>
          <p:cNvSpPr/>
          <p:nvPr/>
        </p:nvSpPr>
        <p:spPr>
          <a:xfrm>
            <a:off x="8567928" y="2654617"/>
            <a:ext cx="109728" cy="109728"/>
          </a:xfrm>
          <a:prstGeom prst="ellipse">
            <a:avLst/>
          </a:prstGeom>
          <a:solidFill>
            <a:srgbClr val="0EA5A5"/>
          </a:solidFill>
          <a:ln w="12700">
            <a:solidFill>
              <a:srgbClr val="0EA5A5"/>
            </a:solidFill>
            <a:prstDash val="solid"/>
          </a:ln>
        </p:spPr>
        <p:txBody>
          <a:bodyPr/>
          <a:p/>
        </p:txBody>
      </p:sp>
      <p:sp>
        <p:nvSpPr>
          <p:cNvPr id="26" name="Text 24"/>
          <p:cNvSpPr/>
          <p:nvPr/>
        </p:nvSpPr>
        <p:spPr>
          <a:xfrm>
            <a:off x="8805672" y="256032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Indexer triggered by ticket-resolved events on Kafka</a:t>
            </a:r>
            <a:endParaRPr lang="en-US" sz="1350" dirty="0"/>
          </a:p>
        </p:txBody>
      </p:sp>
      <p:sp>
        <p:nvSpPr>
          <p:cNvPr id="27" name="Shape 25"/>
          <p:cNvSpPr/>
          <p:nvPr/>
        </p:nvSpPr>
        <p:spPr>
          <a:xfrm>
            <a:off x="8567928" y="3431858"/>
            <a:ext cx="109728" cy="109728"/>
          </a:xfrm>
          <a:prstGeom prst="ellipse">
            <a:avLst/>
          </a:prstGeom>
          <a:solidFill>
            <a:srgbClr val="0EA5A5"/>
          </a:solidFill>
          <a:ln w="12700">
            <a:solidFill>
              <a:srgbClr val="0EA5A5"/>
            </a:solidFill>
            <a:prstDash val="solid"/>
          </a:ln>
        </p:spPr>
        <p:txBody>
          <a:bodyPr/>
          <a:p/>
        </p:txBody>
      </p:sp>
      <p:sp>
        <p:nvSpPr>
          <p:cNvPr id="28" name="Text 26"/>
          <p:cNvSpPr/>
          <p:nvPr/>
        </p:nvSpPr>
        <p:spPr>
          <a:xfrm>
            <a:off x="8805672" y="333756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Citations required on every generated answer</a:t>
            </a:r>
            <a:endParaRPr lang="en-US" sz="1350" dirty="0"/>
          </a:p>
        </p:txBody>
      </p:sp>
      <p:sp>
        <p:nvSpPr>
          <p:cNvPr id="29" name="Shape 27"/>
          <p:cNvSpPr/>
          <p:nvPr/>
        </p:nvSpPr>
        <p:spPr>
          <a:xfrm>
            <a:off x="8567928" y="4209098"/>
            <a:ext cx="109728" cy="109728"/>
          </a:xfrm>
          <a:prstGeom prst="ellipse">
            <a:avLst/>
          </a:prstGeom>
          <a:solidFill>
            <a:srgbClr val="0EA5A5"/>
          </a:solidFill>
          <a:ln w="12700">
            <a:solidFill>
              <a:srgbClr val="0EA5A5"/>
            </a:solidFill>
            <a:prstDash val="solid"/>
          </a:ln>
        </p:spPr>
        <p:txBody>
          <a:bodyPr/>
          <a:p/>
        </p:txBody>
      </p:sp>
      <p:sp>
        <p:nvSpPr>
          <p:cNvPr id="30" name="Text 28"/>
          <p:cNvSpPr/>
          <p:nvPr/>
        </p:nvSpPr>
        <p:spPr>
          <a:xfrm>
            <a:off x="8805672" y="4114800"/>
            <a:ext cx="2944368" cy="77724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Below confidence threshold: agent asks a clarifying question</a:t>
            </a:r>
            <a:endParaRPr lang="en-US" sz="1350" dirty="0"/>
          </a:p>
        </p:txBody>
      </p:sp>
      <p:sp>
        <p:nvSpPr>
          <p:cNvPr id="31" name="Text 29"/>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2" name="Text 30"/>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Reliability, observability &amp; monitoring</a:t>
            </a:r>
            <a:endParaRPr lang="en-US" sz="3000" dirty="0"/>
          </a:p>
        </p:txBody>
      </p:sp>
      <p:sp>
        <p:nvSpPr>
          <p:cNvPr id="4" name="Shape 2"/>
          <p:cNvSpPr/>
          <p:nvPr/>
        </p:nvSpPr>
        <p:spPr>
          <a:xfrm>
            <a:off x="548640" y="1554480"/>
            <a:ext cx="5486400" cy="41148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1148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What I'd instrument</a:t>
            </a:r>
            <a:endParaRPr lang="en-US" sz="1700" dirty="0"/>
          </a:p>
        </p:txBody>
      </p:sp>
      <p:sp>
        <p:nvSpPr>
          <p:cNvPr id="7" name="Shape 5"/>
          <p:cNvSpPr/>
          <p:nvPr/>
        </p:nvSpPr>
        <p:spPr>
          <a:xfrm>
            <a:off x="841248" y="2566670"/>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OpenTelemetry spans (opt-in via PTAG_OTEL=1) alongside JSON-line trail</a:t>
            </a:r>
            <a:endParaRPr lang="en-US" sz="1400" dirty="0"/>
          </a:p>
        </p:txBody>
      </p:sp>
      <p:sp>
        <p:nvSpPr>
          <p:cNvPr id="9" name="Shape 7"/>
          <p:cNvSpPr/>
          <p:nvPr/>
        </p:nvSpPr>
        <p:spPr>
          <a:xfrm>
            <a:off x="841248" y="3161030"/>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06324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Structured prompt/response logs (PII-redacted) for replay</a:t>
            </a:r>
            <a:endParaRPr lang="en-US" sz="1400" dirty="0"/>
          </a:p>
        </p:txBody>
      </p:sp>
      <p:sp>
        <p:nvSpPr>
          <p:cNvPr id="11" name="Shape 9"/>
          <p:cNvSpPr/>
          <p:nvPr/>
        </p:nvSpPr>
        <p:spPr>
          <a:xfrm>
            <a:off x="841248" y="3755390"/>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365760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Token-spend metrics per tenant, agent, step</a:t>
            </a:r>
            <a:endParaRPr lang="en-US" sz="1400" dirty="0"/>
          </a:p>
        </p:txBody>
      </p:sp>
      <p:sp>
        <p:nvSpPr>
          <p:cNvPr id="13" name="Shape 11"/>
          <p:cNvSpPr/>
          <p:nvPr/>
        </p:nvSpPr>
        <p:spPr>
          <a:xfrm>
            <a:off x="841248" y="4349750"/>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425196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Refusal-rate, retry-rate, hallucination-flag rate</a:t>
            </a:r>
            <a:endParaRPr lang="en-US" sz="1400" dirty="0"/>
          </a:p>
        </p:txBody>
      </p:sp>
      <p:sp>
        <p:nvSpPr>
          <p:cNvPr id="15" name="Shape 13"/>
          <p:cNvSpPr/>
          <p:nvPr/>
        </p:nvSpPr>
        <p:spPr>
          <a:xfrm>
            <a:off x="841248" y="4944110"/>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78992" y="484632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Latency histograms per node</a:t>
            </a:r>
            <a:endParaRPr lang="en-US" sz="1400" dirty="0"/>
          </a:p>
        </p:txBody>
      </p:sp>
      <p:sp>
        <p:nvSpPr>
          <p:cNvPr id="17" name="Shape 15"/>
          <p:cNvSpPr/>
          <p:nvPr/>
        </p:nvSpPr>
        <p:spPr>
          <a:xfrm>
            <a:off x="6309360" y="1554480"/>
            <a:ext cx="5486400" cy="4114800"/>
          </a:xfrm>
          <a:prstGeom prst="rect">
            <a:avLst/>
          </a:prstGeom>
          <a:solidFill>
            <a:srgbClr val="F8FAFC"/>
          </a:solidFill>
          <a:ln w="12700">
            <a:solidFill>
              <a:srgbClr val="E2E8F0"/>
            </a:solidFill>
            <a:prstDash val="solid"/>
          </a:ln>
        </p:spPr>
        <p:txBody>
          <a:bodyPr/>
          <a:p/>
        </p:txBody>
      </p:sp>
      <p:sp>
        <p:nvSpPr>
          <p:cNvPr id="18" name="Shape 16"/>
          <p:cNvSpPr/>
          <p:nvPr/>
        </p:nvSpPr>
        <p:spPr>
          <a:xfrm>
            <a:off x="6309360" y="1554480"/>
            <a:ext cx="73152" cy="4114800"/>
          </a:xfrm>
          <a:prstGeom prst="rect">
            <a:avLst/>
          </a:prstGeom>
          <a:solidFill>
            <a:srgbClr val="0EA5A5"/>
          </a:solidFill>
          <a:ln w="12700">
            <a:solidFill>
              <a:srgbClr val="0EA5A5"/>
            </a:solidFill>
            <a:prstDash val="solid"/>
          </a:ln>
        </p:spPr>
        <p:txBody>
          <a:bodyPr/>
          <a:p/>
        </p:txBody>
      </p:sp>
      <p:sp>
        <p:nvSpPr>
          <p:cNvPr id="19" name="Text 17"/>
          <p:cNvSpPr/>
          <p:nvPr/>
        </p:nvSpPr>
        <p:spPr>
          <a:xfrm>
            <a:off x="658368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How I'd evaluate</a:t>
            </a:r>
            <a:endParaRPr lang="en-US" sz="1700" dirty="0"/>
          </a:p>
        </p:txBody>
      </p:sp>
      <p:sp>
        <p:nvSpPr>
          <p:cNvPr id="20" name="Shape 18"/>
          <p:cNvSpPr/>
          <p:nvPr/>
        </p:nvSpPr>
        <p:spPr>
          <a:xfrm>
            <a:off x="6601968" y="2566670"/>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246888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Golden-set regression tests on every model/prompt change</a:t>
            </a:r>
            <a:endParaRPr lang="en-US" sz="1400" dirty="0"/>
          </a:p>
        </p:txBody>
      </p:sp>
      <p:sp>
        <p:nvSpPr>
          <p:cNvPr id="22" name="Shape 20"/>
          <p:cNvSpPr/>
          <p:nvPr/>
        </p:nvSpPr>
        <p:spPr>
          <a:xfrm>
            <a:off x="6601968" y="3161030"/>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306324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LLM-as-judge for subjective metrics, with human spot-checks</a:t>
            </a:r>
            <a:endParaRPr lang="en-US" sz="1400" dirty="0"/>
          </a:p>
        </p:txBody>
      </p:sp>
      <p:sp>
        <p:nvSpPr>
          <p:cNvPr id="24" name="Shape 22"/>
          <p:cNvSpPr/>
          <p:nvPr/>
        </p:nvSpPr>
        <p:spPr>
          <a:xfrm>
            <a:off x="6601968" y="3755390"/>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6839712" y="365760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Canary deploys per agent</a:t>
            </a:r>
            <a:endParaRPr lang="en-US" sz="1400" dirty="0"/>
          </a:p>
        </p:txBody>
      </p:sp>
      <p:sp>
        <p:nvSpPr>
          <p:cNvPr id="26" name="Shape 24"/>
          <p:cNvSpPr/>
          <p:nvPr/>
        </p:nvSpPr>
        <p:spPr>
          <a:xfrm>
            <a:off x="6601968" y="4349750"/>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6839712" y="4251960"/>
            <a:ext cx="4773168" cy="5943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A/B with guardrails on safety metrics</a:t>
            </a:r>
            <a:endParaRPr lang="en-US" sz="1400" dirty="0"/>
          </a:p>
        </p:txBody>
      </p:sp>
      <p:sp>
        <p:nvSpPr>
          <p:cNvPr id="28" name="Text 26"/>
          <p:cNvSpPr/>
          <p:nvPr/>
        </p:nvSpPr>
        <p:spPr>
          <a:xfrm>
            <a:off x="548640" y="5897880"/>
            <a:ext cx="11064240" cy="365760"/>
          </a:xfrm>
          <a:prstGeom prst="rect">
            <a:avLst/>
          </a:prstGeom>
          <a:noFill/>
          <a:ln/>
        </p:spPr>
        <p:txBody>
          <a:bodyPr wrap="square" lIns="0" tIns="0" rIns="0" bIns="0" rtlCol="0" anchor="ctr"/>
          <a:lstStyle/>
          <a:p>
            <a:pPr algn="l" indent="0" marL="0">
              <a:buNone/>
            </a:pPr>
            <a:r>
              <a:rPr lang="en-US" sz="1200" i="1" dirty="0">
                <a:solidFill>
                  <a:srgbClr val="64748B"/>
                </a:solidFill>
                <a:latin typeface="Calibri" pitchFamily="34" charset="0"/>
                <a:ea typeface="Calibri" pitchFamily="34" charset="-122"/>
                <a:cs typeface="Calibri" pitchFamily="34" charset="-120"/>
              </a:rPr>
              <a:t>Dashboards in Dynatrace plus a custom AI-ops view</a:t>
            </a:r>
            <a:endParaRPr lang="en-US" sz="1200" dirty="0"/>
          </a:p>
        </p:txBody>
      </p:sp>
      <p:sp>
        <p:nvSpPr>
          <p:cNvPr id="29" name="Text 27"/>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0" name="Text 28"/>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Latency &amp; scalability</a:t>
            </a:r>
            <a:endParaRPr lang="en-US" sz="3000" dirty="0"/>
          </a:p>
        </p:txBody>
      </p:sp>
      <p:sp>
        <p:nvSpPr>
          <p:cNvPr id="4" name="Shape 2"/>
          <p:cNvSpPr/>
          <p:nvPr/>
        </p:nvSpPr>
        <p:spPr>
          <a:xfrm>
            <a:off x="548640" y="1554480"/>
            <a:ext cx="54864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Latency budget</a:t>
            </a:r>
            <a:endParaRPr lang="en-US" sz="1700" dirty="0"/>
          </a:p>
        </p:txBody>
      </p:sp>
      <p:sp>
        <p:nvSpPr>
          <p:cNvPr id="7" name="Shape 5"/>
          <p:cNvSpPr/>
          <p:nvPr/>
        </p:nvSpPr>
        <p:spPr>
          <a:xfrm>
            <a:off x="841248" y="2570163"/>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p95 &lt; 6s for end-to-end triage</a:t>
            </a:r>
            <a:endParaRPr lang="en-US" sz="1450" dirty="0"/>
          </a:p>
        </p:txBody>
      </p:sp>
      <p:sp>
        <p:nvSpPr>
          <p:cNvPr id="9" name="Shape 7"/>
          <p:cNvSpPr/>
          <p:nvPr/>
        </p:nvSpPr>
        <p:spPr>
          <a:xfrm>
            <a:off x="841248" y="3255963"/>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1546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Provider-side streaming wired (Anthropic SSE, Ollama stream:true)</a:t>
            </a:r>
            <a:endParaRPr lang="en-US" sz="1450" dirty="0"/>
          </a:p>
        </p:txBody>
      </p:sp>
      <p:sp>
        <p:nvSpPr>
          <p:cNvPr id="11" name="Shape 9"/>
          <p:cNvSpPr/>
          <p:nvPr/>
        </p:nvSpPr>
        <p:spPr>
          <a:xfrm>
            <a:off x="841248" y="3941763"/>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38404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Parallel tool calls where independent</a:t>
            </a:r>
            <a:endParaRPr lang="en-US" sz="1450" dirty="0"/>
          </a:p>
        </p:txBody>
      </p:sp>
      <p:sp>
        <p:nvSpPr>
          <p:cNvPr id="13" name="Shape 11"/>
          <p:cNvSpPr/>
          <p:nvPr/>
        </p:nvSpPr>
        <p:spPr>
          <a:xfrm>
            <a:off x="841248" y="4627563"/>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78992" y="45262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Smaller models for simple steps (extraction, classification)</a:t>
            </a:r>
            <a:endParaRPr lang="en-US" sz="1450" dirty="0"/>
          </a:p>
        </p:txBody>
      </p:sp>
      <p:sp>
        <p:nvSpPr>
          <p:cNvPr id="15" name="Shape 13"/>
          <p:cNvSpPr/>
          <p:nvPr/>
        </p:nvSpPr>
        <p:spPr>
          <a:xfrm>
            <a:off x="841248" y="5313363"/>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78992" y="52120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Frontier models only when ambiguity warrants</a:t>
            </a:r>
            <a:endParaRPr lang="en-US" sz="1450" dirty="0"/>
          </a:p>
        </p:txBody>
      </p:sp>
      <p:sp>
        <p:nvSpPr>
          <p:cNvPr id="17" name="Shape 15"/>
          <p:cNvSpPr/>
          <p:nvPr/>
        </p:nvSpPr>
        <p:spPr>
          <a:xfrm>
            <a:off x="6309360" y="1554480"/>
            <a:ext cx="5486400" cy="4572000"/>
          </a:xfrm>
          <a:prstGeom prst="rect">
            <a:avLst/>
          </a:prstGeom>
          <a:solidFill>
            <a:srgbClr val="F8FAFC"/>
          </a:solidFill>
          <a:ln w="12700">
            <a:solidFill>
              <a:srgbClr val="E2E8F0"/>
            </a:solidFill>
            <a:prstDash val="solid"/>
          </a:ln>
        </p:spPr>
        <p:txBody>
          <a:bodyPr/>
          <a:p/>
        </p:txBody>
      </p:sp>
      <p:sp>
        <p:nvSpPr>
          <p:cNvPr id="18" name="Shape 16"/>
          <p:cNvSpPr/>
          <p:nvPr/>
        </p:nvSpPr>
        <p:spPr>
          <a:xfrm>
            <a:off x="6309360" y="1554480"/>
            <a:ext cx="73152" cy="4572000"/>
          </a:xfrm>
          <a:prstGeom prst="rect">
            <a:avLst/>
          </a:prstGeom>
          <a:solidFill>
            <a:srgbClr val="0EA5A5"/>
          </a:solidFill>
          <a:ln w="12700">
            <a:solidFill>
              <a:srgbClr val="0EA5A5"/>
            </a:solidFill>
            <a:prstDash val="solid"/>
          </a:ln>
        </p:spPr>
        <p:txBody>
          <a:bodyPr/>
          <a:p/>
        </p:txBody>
      </p:sp>
      <p:sp>
        <p:nvSpPr>
          <p:cNvPr id="19" name="Text 17"/>
          <p:cNvSpPr/>
          <p:nvPr/>
        </p:nvSpPr>
        <p:spPr>
          <a:xfrm>
            <a:off x="658368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Scalability levers</a:t>
            </a:r>
            <a:endParaRPr lang="en-US" sz="1700" dirty="0"/>
          </a:p>
        </p:txBody>
      </p:sp>
      <p:sp>
        <p:nvSpPr>
          <p:cNvPr id="20" name="Shape 18"/>
          <p:cNvSpPr/>
          <p:nvPr/>
        </p:nvSpPr>
        <p:spPr>
          <a:xfrm>
            <a:off x="6601968" y="2570163"/>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24688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Stateless agent workers on ECS / EKS</a:t>
            </a:r>
            <a:endParaRPr lang="en-US" sz="1450" dirty="0"/>
          </a:p>
        </p:txBody>
      </p:sp>
      <p:sp>
        <p:nvSpPr>
          <p:cNvPr id="22" name="Shape 20"/>
          <p:cNvSpPr/>
          <p:nvPr/>
        </p:nvSpPr>
        <p:spPr>
          <a:xfrm>
            <a:off x="6601968" y="3255963"/>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31546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Queue-decoupled work via Kafka</a:t>
            </a:r>
            <a:endParaRPr lang="en-US" sz="1450" dirty="0"/>
          </a:p>
        </p:txBody>
      </p:sp>
      <p:sp>
        <p:nvSpPr>
          <p:cNvPr id="24" name="Shape 22"/>
          <p:cNvSpPr/>
          <p:nvPr/>
        </p:nvSpPr>
        <p:spPr>
          <a:xfrm>
            <a:off x="6601968" y="3941763"/>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6839712" y="38404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Auto-scale on token-rate + tool-queue depth, not just CPU</a:t>
            </a:r>
            <a:endParaRPr lang="en-US" sz="1450" dirty="0"/>
          </a:p>
        </p:txBody>
      </p:sp>
      <p:sp>
        <p:nvSpPr>
          <p:cNvPr id="26" name="Shape 24"/>
          <p:cNvSpPr/>
          <p:nvPr/>
        </p:nvSpPr>
        <p:spPr>
          <a:xfrm>
            <a:off x="6601968" y="4627563"/>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6839712" y="45262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Per-partner token-bucket rate limits</a:t>
            </a:r>
            <a:endParaRPr lang="en-US" sz="1450" dirty="0"/>
          </a:p>
        </p:txBody>
      </p:sp>
      <p:sp>
        <p:nvSpPr>
          <p:cNvPr id="28" name="Shape 26"/>
          <p:cNvSpPr/>
          <p:nvPr/>
        </p:nvSpPr>
        <p:spPr>
          <a:xfrm>
            <a:off x="6601968" y="5313363"/>
            <a:ext cx="109728" cy="109728"/>
          </a:xfrm>
          <a:prstGeom prst="ellipse">
            <a:avLst/>
          </a:prstGeom>
          <a:solidFill>
            <a:srgbClr val="0EA5A5"/>
          </a:solidFill>
          <a:ln w="12700">
            <a:solidFill>
              <a:srgbClr val="0EA5A5"/>
            </a:solidFill>
            <a:prstDash val="solid"/>
          </a:ln>
        </p:spPr>
        <p:txBody>
          <a:bodyPr/>
          <a:p/>
        </p:txBody>
      </p:sp>
      <p:sp>
        <p:nvSpPr>
          <p:cNvPr id="29" name="Text 27"/>
          <p:cNvSpPr/>
          <p:nvPr/>
        </p:nvSpPr>
        <p:spPr>
          <a:xfrm>
            <a:off x="6839712" y="5212080"/>
            <a:ext cx="4773168" cy="68580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Caching: prompt-template + retrieval results</a:t>
            </a:r>
            <a:endParaRPr lang="en-US" sz="1450" dirty="0"/>
          </a:p>
        </p:txBody>
      </p:sp>
      <p:sp>
        <p:nvSpPr>
          <p:cNvPr id="30" name="Text 2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1" name="Text 2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Cost optimization</a:t>
            </a:r>
            <a:endParaRPr lang="en-US" sz="3000" dirty="0"/>
          </a:p>
        </p:txBody>
      </p:sp>
      <p:sp>
        <p:nvSpPr>
          <p:cNvPr id="4" name="Shape 2"/>
          <p:cNvSpPr/>
          <p:nvPr/>
        </p:nvSpPr>
        <p:spPr>
          <a:xfrm>
            <a:off x="502920" y="1554480"/>
            <a:ext cx="36576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0292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Model routing</a:t>
            </a:r>
            <a:endParaRPr lang="en-US" sz="1700" dirty="0"/>
          </a:p>
        </p:txBody>
      </p:sp>
      <p:sp>
        <p:nvSpPr>
          <p:cNvPr id="7" name="Shape 5"/>
          <p:cNvSpPr/>
          <p:nvPr/>
        </p:nvSpPr>
        <p:spPr>
          <a:xfrm>
            <a:off x="795528" y="2654617"/>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332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Small/cheap models for classification + extraction</a:t>
            </a:r>
            <a:endParaRPr lang="en-US" sz="1350" dirty="0"/>
          </a:p>
        </p:txBody>
      </p:sp>
      <p:sp>
        <p:nvSpPr>
          <p:cNvPr id="9" name="Shape 7"/>
          <p:cNvSpPr/>
          <p:nvPr/>
        </p:nvSpPr>
        <p:spPr>
          <a:xfrm>
            <a:off x="795528" y="3294698"/>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332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Mid for summaries</a:t>
            </a:r>
            <a:endParaRPr lang="en-US" sz="1350" dirty="0"/>
          </a:p>
        </p:txBody>
      </p:sp>
      <p:sp>
        <p:nvSpPr>
          <p:cNvPr id="11" name="Shape 9"/>
          <p:cNvSpPr/>
          <p:nvPr/>
        </p:nvSpPr>
        <p:spPr>
          <a:xfrm>
            <a:off x="795528" y="3934778"/>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332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Frontier only for ambiguous escalations</a:t>
            </a:r>
            <a:endParaRPr lang="en-US" sz="1350" dirty="0"/>
          </a:p>
        </p:txBody>
      </p:sp>
      <p:sp>
        <p:nvSpPr>
          <p:cNvPr id="13" name="Shape 11"/>
          <p:cNvSpPr/>
          <p:nvPr/>
        </p:nvSpPr>
        <p:spPr>
          <a:xfrm>
            <a:off x="795528" y="4574858"/>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33272" y="448056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Function calling instead of free-text JSON</a:t>
            </a:r>
            <a:endParaRPr lang="en-US" sz="1350" dirty="0"/>
          </a:p>
        </p:txBody>
      </p:sp>
      <p:sp>
        <p:nvSpPr>
          <p:cNvPr id="15" name="Shape 13"/>
          <p:cNvSpPr/>
          <p:nvPr/>
        </p:nvSpPr>
        <p:spPr>
          <a:xfrm>
            <a:off x="4389120" y="1554480"/>
            <a:ext cx="3657600" cy="4572000"/>
          </a:xfrm>
          <a:prstGeom prst="rect">
            <a:avLst/>
          </a:prstGeom>
          <a:solidFill>
            <a:srgbClr val="F8FAFC"/>
          </a:solidFill>
          <a:ln w="12700">
            <a:solidFill>
              <a:srgbClr val="E2E8F0"/>
            </a:solidFill>
            <a:prstDash val="solid"/>
          </a:ln>
        </p:spPr>
        <p:txBody>
          <a:bodyPr/>
          <a:p/>
        </p:txBody>
      </p:sp>
      <p:sp>
        <p:nvSpPr>
          <p:cNvPr id="16" name="Shape 14"/>
          <p:cNvSpPr/>
          <p:nvPr/>
        </p:nvSpPr>
        <p:spPr>
          <a:xfrm>
            <a:off x="4389120" y="1554480"/>
            <a:ext cx="73152" cy="4572000"/>
          </a:xfrm>
          <a:prstGeom prst="rect">
            <a:avLst/>
          </a:prstGeom>
          <a:solidFill>
            <a:srgbClr val="0EA5A5"/>
          </a:solidFill>
          <a:ln w="12700">
            <a:solidFill>
              <a:srgbClr val="0EA5A5"/>
            </a:solidFill>
            <a:prstDash val="solid"/>
          </a:ln>
        </p:spPr>
        <p:txBody>
          <a:bodyPr/>
          <a:p/>
        </p:txBody>
      </p:sp>
      <p:sp>
        <p:nvSpPr>
          <p:cNvPr id="17" name="Text 15"/>
          <p:cNvSpPr/>
          <p:nvPr/>
        </p:nvSpPr>
        <p:spPr>
          <a:xfrm>
            <a:off x="46634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Prompt + retrieval hygiene</a:t>
            </a:r>
            <a:endParaRPr lang="en-US" sz="1700" dirty="0"/>
          </a:p>
        </p:txBody>
      </p:sp>
      <p:sp>
        <p:nvSpPr>
          <p:cNvPr id="18" name="Shape 16"/>
          <p:cNvSpPr/>
          <p:nvPr/>
        </p:nvSpPr>
        <p:spPr>
          <a:xfrm>
            <a:off x="4681728" y="2654617"/>
            <a:ext cx="109728" cy="109728"/>
          </a:xfrm>
          <a:prstGeom prst="ellipse">
            <a:avLst/>
          </a:prstGeom>
          <a:solidFill>
            <a:srgbClr val="0EA5A5"/>
          </a:solidFill>
          <a:ln w="12700">
            <a:solidFill>
              <a:srgbClr val="0EA5A5"/>
            </a:solidFill>
            <a:prstDash val="solid"/>
          </a:ln>
        </p:spPr>
        <p:txBody>
          <a:bodyPr/>
          <a:p/>
        </p:txBody>
      </p:sp>
      <p:sp>
        <p:nvSpPr>
          <p:cNvPr id="19" name="Text 17"/>
          <p:cNvSpPr/>
          <p:nvPr/>
        </p:nvSpPr>
        <p:spPr>
          <a:xfrm>
            <a:off x="49194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Trimmed system prompts</a:t>
            </a:r>
            <a:endParaRPr lang="en-US" sz="1350" dirty="0"/>
          </a:p>
        </p:txBody>
      </p:sp>
      <p:sp>
        <p:nvSpPr>
          <p:cNvPr id="20" name="Shape 18"/>
          <p:cNvSpPr/>
          <p:nvPr/>
        </p:nvSpPr>
        <p:spPr>
          <a:xfrm>
            <a:off x="4681728" y="3294698"/>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49194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Schema-first outputs</a:t>
            </a:r>
            <a:endParaRPr lang="en-US" sz="1350" dirty="0"/>
          </a:p>
        </p:txBody>
      </p:sp>
      <p:sp>
        <p:nvSpPr>
          <p:cNvPr id="22" name="Shape 20"/>
          <p:cNvSpPr/>
          <p:nvPr/>
        </p:nvSpPr>
        <p:spPr>
          <a:xfrm>
            <a:off x="4681728" y="3934778"/>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49194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Tight chunk sizes</a:t>
            </a:r>
            <a:endParaRPr lang="en-US" sz="1350" dirty="0"/>
          </a:p>
        </p:txBody>
      </p:sp>
      <p:sp>
        <p:nvSpPr>
          <p:cNvPr id="24" name="Shape 22"/>
          <p:cNvSpPr/>
          <p:nvPr/>
        </p:nvSpPr>
        <p:spPr>
          <a:xfrm>
            <a:off x="4681728" y="4574858"/>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4919472" y="448056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Re-rankers to keep fewer-but-better docs in context</a:t>
            </a:r>
            <a:endParaRPr lang="en-US" sz="1350" dirty="0"/>
          </a:p>
        </p:txBody>
      </p:sp>
      <p:sp>
        <p:nvSpPr>
          <p:cNvPr id="26" name="Shape 24"/>
          <p:cNvSpPr/>
          <p:nvPr/>
        </p:nvSpPr>
        <p:spPr>
          <a:xfrm>
            <a:off x="4681728" y="5214938"/>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4919472" y="512064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Semantic cache for repeated questions</a:t>
            </a:r>
            <a:endParaRPr lang="en-US" sz="1350" dirty="0"/>
          </a:p>
        </p:txBody>
      </p:sp>
      <p:sp>
        <p:nvSpPr>
          <p:cNvPr id="28" name="Shape 26"/>
          <p:cNvSpPr/>
          <p:nvPr/>
        </p:nvSpPr>
        <p:spPr>
          <a:xfrm>
            <a:off x="8275320" y="1554480"/>
            <a:ext cx="3657600" cy="4572000"/>
          </a:xfrm>
          <a:prstGeom prst="rect">
            <a:avLst/>
          </a:prstGeom>
          <a:solidFill>
            <a:srgbClr val="F8FAFC"/>
          </a:solidFill>
          <a:ln w="12700">
            <a:solidFill>
              <a:srgbClr val="E2E8F0"/>
            </a:solidFill>
            <a:prstDash val="solid"/>
          </a:ln>
        </p:spPr>
        <p:txBody>
          <a:bodyPr/>
          <a:p/>
        </p:txBody>
      </p:sp>
      <p:sp>
        <p:nvSpPr>
          <p:cNvPr id="29" name="Shape 27"/>
          <p:cNvSpPr/>
          <p:nvPr/>
        </p:nvSpPr>
        <p:spPr>
          <a:xfrm>
            <a:off x="8275320" y="1554480"/>
            <a:ext cx="73152" cy="4572000"/>
          </a:xfrm>
          <a:prstGeom prst="rect">
            <a:avLst/>
          </a:prstGeom>
          <a:solidFill>
            <a:srgbClr val="0EA5A5"/>
          </a:solidFill>
          <a:ln w="12700">
            <a:solidFill>
              <a:srgbClr val="0EA5A5"/>
            </a:solidFill>
            <a:prstDash val="solid"/>
          </a:ln>
        </p:spPr>
        <p:txBody>
          <a:bodyPr/>
          <a:p/>
        </p:txBody>
      </p:sp>
      <p:sp>
        <p:nvSpPr>
          <p:cNvPr id="30" name="Text 28"/>
          <p:cNvSpPr/>
          <p:nvPr/>
        </p:nvSpPr>
        <p:spPr>
          <a:xfrm>
            <a:off x="8549640" y="1828800"/>
            <a:ext cx="3200400" cy="5486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Guardrails + attribution</a:t>
            </a:r>
            <a:endParaRPr lang="en-US" sz="1700" dirty="0"/>
          </a:p>
        </p:txBody>
      </p:sp>
      <p:sp>
        <p:nvSpPr>
          <p:cNvPr id="31" name="Shape 29"/>
          <p:cNvSpPr/>
          <p:nvPr/>
        </p:nvSpPr>
        <p:spPr>
          <a:xfrm>
            <a:off x="8567928" y="2654617"/>
            <a:ext cx="109728" cy="109728"/>
          </a:xfrm>
          <a:prstGeom prst="ellipse">
            <a:avLst/>
          </a:prstGeom>
          <a:solidFill>
            <a:srgbClr val="0EA5A5"/>
          </a:solidFill>
          <a:ln w="12700">
            <a:solidFill>
              <a:srgbClr val="0EA5A5"/>
            </a:solidFill>
            <a:prstDash val="solid"/>
          </a:ln>
        </p:spPr>
        <p:txBody>
          <a:bodyPr/>
          <a:p/>
        </p:txBody>
      </p:sp>
      <p:sp>
        <p:nvSpPr>
          <p:cNvPr id="32" name="Text 30"/>
          <p:cNvSpPr/>
          <p:nvPr/>
        </p:nvSpPr>
        <p:spPr>
          <a:xfrm>
            <a:off x="88056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Per-tenant token budgets with 70/90/100% alerts</a:t>
            </a:r>
            <a:endParaRPr lang="en-US" sz="1350" dirty="0"/>
          </a:p>
        </p:txBody>
      </p:sp>
      <p:sp>
        <p:nvSpPr>
          <p:cNvPr id="33" name="Shape 31"/>
          <p:cNvSpPr/>
          <p:nvPr/>
        </p:nvSpPr>
        <p:spPr>
          <a:xfrm>
            <a:off x="8567928" y="3294698"/>
            <a:ext cx="109728" cy="109728"/>
          </a:xfrm>
          <a:prstGeom prst="ellipse">
            <a:avLst/>
          </a:prstGeom>
          <a:solidFill>
            <a:srgbClr val="0EA5A5"/>
          </a:solidFill>
          <a:ln w="12700">
            <a:solidFill>
              <a:srgbClr val="0EA5A5"/>
            </a:solidFill>
            <a:prstDash val="solid"/>
          </a:ln>
        </p:spPr>
        <p:txBody>
          <a:bodyPr/>
          <a:p/>
        </p:txBody>
      </p:sp>
      <p:sp>
        <p:nvSpPr>
          <p:cNvPr id="34" name="Text 32"/>
          <p:cNvSpPr/>
          <p:nvPr/>
        </p:nvSpPr>
        <p:spPr>
          <a:xfrm>
            <a:off x="88056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Cost dashboards by partner / agent / step</a:t>
            </a:r>
            <a:endParaRPr lang="en-US" sz="1350" dirty="0"/>
          </a:p>
        </p:txBody>
      </p:sp>
      <p:sp>
        <p:nvSpPr>
          <p:cNvPr id="35" name="Shape 33"/>
          <p:cNvSpPr/>
          <p:nvPr/>
        </p:nvSpPr>
        <p:spPr>
          <a:xfrm>
            <a:off x="8567928" y="3934778"/>
            <a:ext cx="109728" cy="109728"/>
          </a:xfrm>
          <a:prstGeom prst="ellipse">
            <a:avLst/>
          </a:prstGeom>
          <a:solidFill>
            <a:srgbClr val="0EA5A5"/>
          </a:solidFill>
          <a:ln w="12700">
            <a:solidFill>
              <a:srgbClr val="0EA5A5"/>
            </a:solidFill>
            <a:prstDash val="solid"/>
          </a:ln>
        </p:spPr>
        <p:txBody>
          <a:bodyPr/>
          <a:p/>
        </p:txBody>
      </p:sp>
      <p:sp>
        <p:nvSpPr>
          <p:cNvPr id="36" name="Text 34"/>
          <p:cNvSpPr/>
          <p:nvPr/>
        </p:nvSpPr>
        <p:spPr>
          <a:xfrm>
            <a:off x="88056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Weekly cost review as a first-class operational metric</a:t>
            </a:r>
            <a:endParaRPr lang="en-US" sz="1350" dirty="0"/>
          </a:p>
        </p:txBody>
      </p:sp>
      <p:sp>
        <p:nvSpPr>
          <p:cNvPr id="37" name="Text 35"/>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38" name="Text 36"/>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Security, compliance &amp; responsible AI</a:t>
            </a:r>
            <a:endParaRPr lang="en-US" sz="3000" dirty="0"/>
          </a:p>
        </p:txBody>
      </p:sp>
      <p:sp>
        <p:nvSpPr>
          <p:cNvPr id="4" name="Shape 2"/>
          <p:cNvSpPr/>
          <p:nvPr/>
        </p:nvSpPr>
        <p:spPr>
          <a:xfrm>
            <a:off x="502920" y="1554480"/>
            <a:ext cx="36576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0292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777240" y="1828800"/>
            <a:ext cx="3200400" cy="5486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Data + access</a:t>
            </a:r>
            <a:endParaRPr lang="en-US" sz="1600" dirty="0"/>
          </a:p>
        </p:txBody>
      </p:sp>
      <p:sp>
        <p:nvSpPr>
          <p:cNvPr id="7" name="Shape 5"/>
          <p:cNvSpPr/>
          <p:nvPr/>
        </p:nvSpPr>
        <p:spPr>
          <a:xfrm>
            <a:off x="795528" y="2654617"/>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332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PII detection at ingest (email · BE phone · IBAN · IPv4); audit-only redaction</a:t>
            </a:r>
            <a:endParaRPr lang="en-US" sz="1350" dirty="0"/>
          </a:p>
        </p:txBody>
      </p:sp>
      <p:sp>
        <p:nvSpPr>
          <p:cNvPr id="9" name="Shape 7"/>
          <p:cNvSpPr/>
          <p:nvPr/>
        </p:nvSpPr>
        <p:spPr>
          <a:xfrm>
            <a:off x="795528" y="3294698"/>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332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Tenant-scoped retrieval — no cross-partner leakage</a:t>
            </a:r>
            <a:endParaRPr lang="en-US" sz="1350" dirty="0"/>
          </a:p>
        </p:txBody>
      </p:sp>
      <p:sp>
        <p:nvSpPr>
          <p:cNvPr id="11" name="Shape 9"/>
          <p:cNvSpPr/>
          <p:nvPr/>
        </p:nvSpPr>
        <p:spPr>
          <a:xfrm>
            <a:off x="795528" y="3934778"/>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332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Encrypted-at-rest vector store</a:t>
            </a:r>
            <a:endParaRPr lang="en-US" sz="1350" dirty="0"/>
          </a:p>
        </p:txBody>
      </p:sp>
      <p:sp>
        <p:nvSpPr>
          <p:cNvPr id="13" name="Shape 11"/>
          <p:cNvSpPr/>
          <p:nvPr/>
        </p:nvSpPr>
        <p:spPr>
          <a:xfrm>
            <a:off x="795528" y="4574858"/>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1033272" y="448056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Entra ID OIDC; fine-grained scopes per agent</a:t>
            </a:r>
            <a:endParaRPr lang="en-US" sz="1350" dirty="0"/>
          </a:p>
        </p:txBody>
      </p:sp>
      <p:sp>
        <p:nvSpPr>
          <p:cNvPr id="15" name="Shape 13"/>
          <p:cNvSpPr/>
          <p:nvPr/>
        </p:nvSpPr>
        <p:spPr>
          <a:xfrm>
            <a:off x="795528" y="5214938"/>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1033272" y="512064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No broad service-account credentials</a:t>
            </a:r>
            <a:endParaRPr lang="en-US" sz="1350" dirty="0"/>
          </a:p>
        </p:txBody>
      </p:sp>
      <p:sp>
        <p:nvSpPr>
          <p:cNvPr id="17" name="Shape 15"/>
          <p:cNvSpPr/>
          <p:nvPr/>
        </p:nvSpPr>
        <p:spPr>
          <a:xfrm>
            <a:off x="4389120" y="1554480"/>
            <a:ext cx="3657600" cy="4572000"/>
          </a:xfrm>
          <a:prstGeom prst="rect">
            <a:avLst/>
          </a:prstGeom>
          <a:solidFill>
            <a:srgbClr val="F8FAFC"/>
          </a:solidFill>
          <a:ln w="12700">
            <a:solidFill>
              <a:srgbClr val="E2E8F0"/>
            </a:solidFill>
            <a:prstDash val="solid"/>
          </a:ln>
        </p:spPr>
        <p:txBody>
          <a:bodyPr/>
          <a:p/>
        </p:txBody>
      </p:sp>
      <p:sp>
        <p:nvSpPr>
          <p:cNvPr id="18" name="Shape 16"/>
          <p:cNvSpPr/>
          <p:nvPr/>
        </p:nvSpPr>
        <p:spPr>
          <a:xfrm>
            <a:off x="4389120" y="1554480"/>
            <a:ext cx="73152" cy="4572000"/>
          </a:xfrm>
          <a:prstGeom prst="rect">
            <a:avLst/>
          </a:prstGeom>
          <a:solidFill>
            <a:srgbClr val="0EA5A5"/>
          </a:solidFill>
          <a:ln w="12700">
            <a:solidFill>
              <a:srgbClr val="0EA5A5"/>
            </a:solidFill>
            <a:prstDash val="solid"/>
          </a:ln>
        </p:spPr>
        <p:txBody>
          <a:bodyPr/>
          <a:p/>
        </p:txBody>
      </p:sp>
      <p:sp>
        <p:nvSpPr>
          <p:cNvPr id="19" name="Text 17"/>
          <p:cNvSpPr/>
          <p:nvPr/>
        </p:nvSpPr>
        <p:spPr>
          <a:xfrm>
            <a:off x="4663440" y="1828800"/>
            <a:ext cx="3200400" cy="5486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Prompt-injection defence</a:t>
            </a:r>
            <a:endParaRPr lang="en-US" sz="1600" dirty="0"/>
          </a:p>
        </p:txBody>
      </p:sp>
      <p:sp>
        <p:nvSpPr>
          <p:cNvPr id="20" name="Shape 18"/>
          <p:cNvSpPr/>
          <p:nvPr/>
        </p:nvSpPr>
        <p:spPr>
          <a:xfrm>
            <a:off x="4681728" y="2654617"/>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49194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Untrusted partner content treated as data, not instructions</a:t>
            </a:r>
            <a:endParaRPr lang="en-US" sz="1350" dirty="0"/>
          </a:p>
        </p:txBody>
      </p:sp>
      <p:sp>
        <p:nvSpPr>
          <p:cNvPr id="22" name="Shape 20"/>
          <p:cNvSpPr/>
          <p:nvPr/>
        </p:nvSpPr>
        <p:spPr>
          <a:xfrm>
            <a:off x="4681728" y="3294698"/>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49194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Instruction filtering on inputs</a:t>
            </a:r>
            <a:endParaRPr lang="en-US" sz="1350" dirty="0"/>
          </a:p>
        </p:txBody>
      </p:sp>
      <p:sp>
        <p:nvSpPr>
          <p:cNvPr id="24" name="Shape 22"/>
          <p:cNvSpPr/>
          <p:nvPr/>
        </p:nvSpPr>
        <p:spPr>
          <a:xfrm>
            <a:off x="4681728" y="3934778"/>
            <a:ext cx="109728" cy="109728"/>
          </a:xfrm>
          <a:prstGeom prst="ellipse">
            <a:avLst/>
          </a:prstGeom>
          <a:solidFill>
            <a:srgbClr val="0EA5A5"/>
          </a:solidFill>
          <a:ln w="12700">
            <a:solidFill>
              <a:srgbClr val="0EA5A5"/>
            </a:solidFill>
            <a:prstDash val="solid"/>
          </a:ln>
        </p:spPr>
        <p:txBody>
          <a:bodyPr/>
          <a:p/>
        </p:txBody>
      </p:sp>
      <p:sp>
        <p:nvSpPr>
          <p:cNvPr id="25" name="Text 23"/>
          <p:cNvSpPr/>
          <p:nvPr/>
        </p:nvSpPr>
        <p:spPr>
          <a:xfrm>
            <a:off x="49194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Tool-call allow-listing per agent</a:t>
            </a:r>
            <a:endParaRPr lang="en-US" sz="1350" dirty="0"/>
          </a:p>
        </p:txBody>
      </p:sp>
      <p:sp>
        <p:nvSpPr>
          <p:cNvPr id="26" name="Shape 24"/>
          <p:cNvSpPr/>
          <p:nvPr/>
        </p:nvSpPr>
        <p:spPr>
          <a:xfrm>
            <a:off x="4681728" y="4574858"/>
            <a:ext cx="109728" cy="109728"/>
          </a:xfrm>
          <a:prstGeom prst="ellipse">
            <a:avLst/>
          </a:prstGeom>
          <a:solidFill>
            <a:srgbClr val="0EA5A5"/>
          </a:solidFill>
          <a:ln w="12700">
            <a:solidFill>
              <a:srgbClr val="0EA5A5"/>
            </a:solidFill>
            <a:prstDash val="solid"/>
          </a:ln>
        </p:spPr>
        <p:txBody>
          <a:bodyPr/>
          <a:p/>
        </p:txBody>
      </p:sp>
      <p:sp>
        <p:nvSpPr>
          <p:cNvPr id="27" name="Text 25"/>
          <p:cNvSpPr/>
          <p:nvPr/>
        </p:nvSpPr>
        <p:spPr>
          <a:xfrm>
            <a:off x="4919472" y="448056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Outbound communication always human-approved</a:t>
            </a:r>
            <a:endParaRPr lang="en-US" sz="1350" dirty="0"/>
          </a:p>
        </p:txBody>
      </p:sp>
      <p:sp>
        <p:nvSpPr>
          <p:cNvPr id="28" name="Shape 26"/>
          <p:cNvSpPr/>
          <p:nvPr/>
        </p:nvSpPr>
        <p:spPr>
          <a:xfrm>
            <a:off x="8275320" y="1554480"/>
            <a:ext cx="3657600" cy="4572000"/>
          </a:xfrm>
          <a:prstGeom prst="rect">
            <a:avLst/>
          </a:prstGeom>
          <a:solidFill>
            <a:srgbClr val="F8FAFC"/>
          </a:solidFill>
          <a:ln w="12700">
            <a:solidFill>
              <a:srgbClr val="E2E8F0"/>
            </a:solidFill>
            <a:prstDash val="solid"/>
          </a:ln>
        </p:spPr>
        <p:txBody>
          <a:bodyPr/>
          <a:p/>
        </p:txBody>
      </p:sp>
      <p:sp>
        <p:nvSpPr>
          <p:cNvPr id="29" name="Shape 27"/>
          <p:cNvSpPr/>
          <p:nvPr/>
        </p:nvSpPr>
        <p:spPr>
          <a:xfrm>
            <a:off x="8275320" y="1554480"/>
            <a:ext cx="73152" cy="4572000"/>
          </a:xfrm>
          <a:prstGeom prst="rect">
            <a:avLst/>
          </a:prstGeom>
          <a:solidFill>
            <a:srgbClr val="0EA5A5"/>
          </a:solidFill>
          <a:ln w="12700">
            <a:solidFill>
              <a:srgbClr val="0EA5A5"/>
            </a:solidFill>
            <a:prstDash val="solid"/>
          </a:ln>
        </p:spPr>
        <p:txBody>
          <a:bodyPr/>
          <a:p/>
        </p:txBody>
      </p:sp>
      <p:sp>
        <p:nvSpPr>
          <p:cNvPr id="30" name="Text 28"/>
          <p:cNvSpPr/>
          <p:nvPr/>
        </p:nvSpPr>
        <p:spPr>
          <a:xfrm>
            <a:off x="8549640" y="1828800"/>
            <a:ext cx="3200400" cy="5486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Compliance + responsible AI</a:t>
            </a:r>
            <a:endParaRPr lang="en-US" sz="1600" dirty="0"/>
          </a:p>
        </p:txBody>
      </p:sp>
      <p:sp>
        <p:nvSpPr>
          <p:cNvPr id="31" name="Shape 29"/>
          <p:cNvSpPr/>
          <p:nvPr/>
        </p:nvSpPr>
        <p:spPr>
          <a:xfrm>
            <a:off x="8567928" y="2654617"/>
            <a:ext cx="109728" cy="109728"/>
          </a:xfrm>
          <a:prstGeom prst="ellipse">
            <a:avLst/>
          </a:prstGeom>
          <a:solidFill>
            <a:srgbClr val="0EA5A5"/>
          </a:solidFill>
          <a:ln w="12700">
            <a:solidFill>
              <a:srgbClr val="0EA5A5"/>
            </a:solidFill>
            <a:prstDash val="solid"/>
          </a:ln>
        </p:spPr>
        <p:txBody>
          <a:bodyPr/>
          <a:p/>
        </p:txBody>
      </p:sp>
      <p:sp>
        <p:nvSpPr>
          <p:cNvPr id="32" name="Text 30"/>
          <p:cNvSpPr/>
          <p:nvPr/>
        </p:nvSpPr>
        <p:spPr>
          <a:xfrm>
            <a:off x="8805672" y="256032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EU data residency</a:t>
            </a:r>
            <a:endParaRPr lang="en-US" sz="1350" dirty="0"/>
          </a:p>
        </p:txBody>
      </p:sp>
      <p:sp>
        <p:nvSpPr>
          <p:cNvPr id="33" name="Shape 31"/>
          <p:cNvSpPr/>
          <p:nvPr/>
        </p:nvSpPr>
        <p:spPr>
          <a:xfrm>
            <a:off x="8567928" y="3294698"/>
            <a:ext cx="109728" cy="109728"/>
          </a:xfrm>
          <a:prstGeom prst="ellipse">
            <a:avLst/>
          </a:prstGeom>
          <a:solidFill>
            <a:srgbClr val="0EA5A5"/>
          </a:solidFill>
          <a:ln w="12700">
            <a:solidFill>
              <a:srgbClr val="0EA5A5"/>
            </a:solidFill>
            <a:prstDash val="solid"/>
          </a:ln>
        </p:spPr>
        <p:txBody>
          <a:bodyPr/>
          <a:p/>
        </p:txBody>
      </p:sp>
      <p:sp>
        <p:nvSpPr>
          <p:cNvPr id="34" name="Text 32"/>
          <p:cNvSpPr/>
          <p:nvPr/>
        </p:nvSpPr>
        <p:spPr>
          <a:xfrm>
            <a:off x="8805672" y="320040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GDPR retention + right-to-erasure (incl. embeddings)</a:t>
            </a:r>
            <a:endParaRPr lang="en-US" sz="1350" dirty="0"/>
          </a:p>
        </p:txBody>
      </p:sp>
      <p:sp>
        <p:nvSpPr>
          <p:cNvPr id="35" name="Shape 33"/>
          <p:cNvSpPr/>
          <p:nvPr/>
        </p:nvSpPr>
        <p:spPr>
          <a:xfrm>
            <a:off x="8567928" y="3934778"/>
            <a:ext cx="109728" cy="109728"/>
          </a:xfrm>
          <a:prstGeom prst="ellipse">
            <a:avLst/>
          </a:prstGeom>
          <a:solidFill>
            <a:srgbClr val="0EA5A5"/>
          </a:solidFill>
          <a:ln w="12700">
            <a:solidFill>
              <a:srgbClr val="0EA5A5"/>
            </a:solidFill>
            <a:prstDash val="solid"/>
          </a:ln>
        </p:spPr>
        <p:txBody>
          <a:bodyPr/>
          <a:p/>
        </p:txBody>
      </p:sp>
      <p:sp>
        <p:nvSpPr>
          <p:cNvPr id="36" name="Text 34"/>
          <p:cNvSpPr/>
          <p:nvPr/>
        </p:nvSpPr>
        <p:spPr>
          <a:xfrm>
            <a:off x="8805672" y="384048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Bias audits on routing decisions</a:t>
            </a:r>
            <a:endParaRPr lang="en-US" sz="1350" dirty="0"/>
          </a:p>
        </p:txBody>
      </p:sp>
      <p:sp>
        <p:nvSpPr>
          <p:cNvPr id="37" name="Shape 35"/>
          <p:cNvSpPr/>
          <p:nvPr/>
        </p:nvSpPr>
        <p:spPr>
          <a:xfrm>
            <a:off x="8567928" y="4574858"/>
            <a:ext cx="109728" cy="109728"/>
          </a:xfrm>
          <a:prstGeom prst="ellipse">
            <a:avLst/>
          </a:prstGeom>
          <a:solidFill>
            <a:srgbClr val="0EA5A5"/>
          </a:solidFill>
          <a:ln w="12700">
            <a:solidFill>
              <a:srgbClr val="0EA5A5"/>
            </a:solidFill>
            <a:prstDash val="solid"/>
          </a:ln>
        </p:spPr>
        <p:txBody>
          <a:bodyPr/>
          <a:p/>
        </p:txBody>
      </p:sp>
      <p:sp>
        <p:nvSpPr>
          <p:cNvPr id="38" name="Text 36"/>
          <p:cNvSpPr/>
          <p:nvPr/>
        </p:nvSpPr>
        <p:spPr>
          <a:xfrm>
            <a:off x="8805672" y="448056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Cited evidence on every recommendation</a:t>
            </a:r>
            <a:endParaRPr lang="en-US" sz="1350" dirty="0"/>
          </a:p>
        </p:txBody>
      </p:sp>
      <p:sp>
        <p:nvSpPr>
          <p:cNvPr id="39" name="Shape 37"/>
          <p:cNvSpPr/>
          <p:nvPr/>
        </p:nvSpPr>
        <p:spPr>
          <a:xfrm>
            <a:off x="8567928" y="5214938"/>
            <a:ext cx="109728" cy="109728"/>
          </a:xfrm>
          <a:prstGeom prst="ellipse">
            <a:avLst/>
          </a:prstGeom>
          <a:solidFill>
            <a:srgbClr val="0EA5A5"/>
          </a:solidFill>
          <a:ln w="12700">
            <a:solidFill>
              <a:srgbClr val="0EA5A5"/>
            </a:solidFill>
            <a:prstDash val="solid"/>
          </a:ln>
        </p:spPr>
        <p:txBody>
          <a:bodyPr/>
          <a:p/>
        </p:txBody>
      </p:sp>
      <p:sp>
        <p:nvSpPr>
          <p:cNvPr id="40" name="Text 38"/>
          <p:cNvSpPr/>
          <p:nvPr/>
        </p:nvSpPr>
        <p:spPr>
          <a:xfrm>
            <a:off x="8805672" y="5120640"/>
            <a:ext cx="2944368" cy="640080"/>
          </a:xfrm>
          <a:prstGeom prst="rect">
            <a:avLst/>
          </a:prstGeom>
          <a:noFill/>
          <a:ln/>
        </p:spPr>
        <p:txBody>
          <a:bodyPr wrap="square" lIns="0" tIns="0" rIns="0" bIns="0" rtlCol="0" anchor="t"/>
          <a:lstStyle/>
          <a:p>
            <a:pPr algn="l" indent="0" marL="0">
              <a:buNone/>
            </a:pPr>
            <a:r>
              <a:rPr lang="en-US" sz="1350" dirty="0">
                <a:solidFill>
                  <a:srgbClr val="0F172A"/>
                </a:solidFill>
                <a:latin typeface="Calibri" pitchFamily="34" charset="0"/>
                <a:ea typeface="Calibri" pitchFamily="34" charset="-122"/>
                <a:cs typeface="Calibri" pitchFamily="34" charset="-120"/>
              </a:rPr>
              <a:t>Refusal/escape hatches when confidence is low</a:t>
            </a:r>
            <a:endParaRPr lang="en-US" sz="1350" dirty="0"/>
          </a:p>
        </p:txBody>
      </p:sp>
      <p:sp>
        <p:nvSpPr>
          <p:cNvPr id="41" name="Text 39"/>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42" name="Text 40"/>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0972800" cy="822960"/>
          </a:xfrm>
          <a:prstGeom prst="rect">
            <a:avLst/>
          </a:prstGeom>
          <a:noFill/>
        </p:spPr>
        <p:txBody>
          <a:bodyPr wrap="none">
            <a:spAutoFit/>
          </a:bodyPr>
          <a:lstStyle/>
          <a:p>
            <a:r>
              <a:rPr sz="3600" b="1"/>
              <a:t>Demo at a glance</a:t>
            </a:r>
          </a:p>
        </p:txBody>
      </p:sp>
      <p:sp>
        <p:nvSpPr>
          <p:cNvPr id="3" name="TextBox 2"/>
          <p:cNvSpPr txBox="1"/>
          <p:nvPr/>
        </p:nvSpPr>
        <p:spPr>
          <a:xfrm>
            <a:off x="457200" y="1143000"/>
            <a:ext cx="10972800" cy="457200"/>
          </a:xfrm>
          <a:prstGeom prst="rect">
            <a:avLst/>
          </a:prstGeom>
          <a:noFill/>
        </p:spPr>
        <p:txBody>
          <a:bodyPr wrap="none">
            <a:spAutoFit/>
          </a:bodyPr>
          <a:lstStyle/>
          <a:p>
            <a:r>
              <a:rPr sz="1600" i="1"/>
              <a:t>Web UI · LangGraph topology + HITL approval gate + Cost telemetry</a:t>
            </a:r>
          </a:p>
        </p:txBody>
      </p:sp>
      <p:pic>
        <p:nvPicPr>
          <p:cNvPr id="4" name="Picture 3" descr="ui-02-pipeline-complete.png"/>
          <p:cNvPicPr>
            <a:picLocks noChangeAspect="1"/>
          </p:cNvPicPr>
          <p:nvPr/>
        </p:nvPicPr>
        <p:blipFill>
          <a:blip r:embed="rId2"/>
          <a:stretch>
            <a:fillRect/>
          </a:stretch>
        </p:blipFill>
        <p:spPr>
          <a:xfrm>
            <a:off x="457200" y="1737360"/>
            <a:ext cx="10972800" cy="15661519"/>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r>
              <a:rPr sz="1000"/>
              <a:t>Ajay Antony  ·  Capgemini Blue Harvest Panel  ·  May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Greatest achievement</a:t>
            </a:r>
            <a:endParaRPr lang="en-US" sz="3000" dirty="0"/>
          </a:p>
        </p:txBody>
      </p:sp>
      <p:sp>
        <p:nvSpPr>
          <p:cNvPr id="4" name="Shape 2"/>
          <p:cNvSpPr/>
          <p:nvPr/>
        </p:nvSpPr>
        <p:spPr>
          <a:xfrm>
            <a:off x="548640" y="1554480"/>
            <a:ext cx="5120640" cy="4572000"/>
          </a:xfrm>
          <a:prstGeom prst="rect">
            <a:avLst/>
          </a:prstGeom>
          <a:solidFill>
            <a:srgbClr val="0B1E3F"/>
          </a:solidFill>
          <a:ln w="12700">
            <a:solidFill>
              <a:srgbClr val="0B1E3F"/>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914400" y="2194560"/>
            <a:ext cx="4572000" cy="137160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0  to  Production</a:t>
            </a:r>
            <a:endParaRPr lang="en-US" sz="5400" dirty="0"/>
          </a:p>
        </p:txBody>
      </p:sp>
      <p:sp>
        <p:nvSpPr>
          <p:cNvPr id="7" name="Text 5"/>
          <p:cNvSpPr/>
          <p:nvPr/>
        </p:nvSpPr>
        <p:spPr>
          <a:xfrm>
            <a:off x="914400" y="3566160"/>
            <a:ext cx="4572000" cy="731520"/>
          </a:xfrm>
          <a:prstGeom prst="rect">
            <a:avLst/>
          </a:prstGeom>
          <a:noFill/>
          <a:ln/>
        </p:spPr>
        <p:txBody>
          <a:bodyPr wrap="square" lIns="0" tIns="0" rIns="0" bIns="0" rtlCol="0" anchor="ctr"/>
          <a:lstStyle/>
          <a:p>
            <a:pPr algn="l" indent="0" marL="0">
              <a:buNone/>
            </a:pPr>
            <a:r>
              <a:rPr lang="en-US" sz="3000" dirty="0">
                <a:solidFill>
                  <a:srgbClr val="0EA5A5"/>
                </a:solidFill>
                <a:latin typeface="Calibri" pitchFamily="34" charset="0"/>
                <a:ea typeface="Calibri" pitchFamily="34" charset="-122"/>
                <a:cs typeface="Calibri" pitchFamily="34" charset="-120"/>
              </a:rPr>
              <a:t>in under 2 months</a:t>
            </a:r>
            <a:endParaRPr lang="en-US" sz="3000" dirty="0"/>
          </a:p>
        </p:txBody>
      </p:sp>
      <p:sp>
        <p:nvSpPr>
          <p:cNvPr id="8" name="Text 6"/>
          <p:cNvSpPr/>
          <p:nvPr/>
        </p:nvSpPr>
        <p:spPr>
          <a:xfrm>
            <a:off x="914400" y="4389120"/>
            <a:ext cx="4572000" cy="731520"/>
          </a:xfrm>
          <a:prstGeom prst="rect">
            <a:avLst/>
          </a:prstGeom>
          <a:noFill/>
          <a:ln/>
        </p:spPr>
        <p:txBody>
          <a:bodyPr wrap="square" lIns="0" tIns="0" rIns="0" bIns="0" rtlCol="0" anchor="ctr"/>
          <a:lstStyle/>
          <a:p>
            <a:pPr algn="l" indent="0" marL="0">
              <a:buNone/>
            </a:pPr>
            <a:r>
              <a:rPr lang="en-US" sz="3000" i="1" dirty="0">
                <a:solidFill>
                  <a:srgbClr val="94A3B8"/>
                </a:solidFill>
                <a:latin typeface="Calibri" pitchFamily="34" charset="0"/>
                <a:ea typeface="Calibri" pitchFamily="34" charset="-122"/>
                <a:cs typeface="Calibri" pitchFamily="34" charset="-120"/>
              </a:rPr>
              <a:t>solo</a:t>
            </a:r>
            <a:endParaRPr lang="en-US" sz="3000" dirty="0"/>
          </a:p>
        </p:txBody>
      </p:sp>
      <p:sp>
        <p:nvSpPr>
          <p:cNvPr id="9" name="Shape 7"/>
          <p:cNvSpPr/>
          <p:nvPr/>
        </p:nvSpPr>
        <p:spPr>
          <a:xfrm>
            <a:off x="5943600" y="1554480"/>
            <a:ext cx="5669280" cy="4572000"/>
          </a:xfrm>
          <a:prstGeom prst="rect">
            <a:avLst/>
          </a:prstGeom>
          <a:solidFill>
            <a:srgbClr val="F8FAFC"/>
          </a:solidFill>
          <a:ln w="12700">
            <a:solidFill>
              <a:srgbClr val="E2E8F0"/>
            </a:solidFill>
            <a:prstDash val="solid"/>
          </a:ln>
        </p:spPr>
        <p:txBody>
          <a:bodyPr/>
          <a:p/>
        </p:txBody>
      </p:sp>
      <p:sp>
        <p:nvSpPr>
          <p:cNvPr id="10" name="Shape 8"/>
          <p:cNvSpPr/>
          <p:nvPr/>
        </p:nvSpPr>
        <p:spPr>
          <a:xfrm>
            <a:off x="5943600" y="1554480"/>
            <a:ext cx="73152" cy="4572000"/>
          </a:xfrm>
          <a:prstGeom prst="rect">
            <a:avLst/>
          </a:prstGeom>
          <a:solidFill>
            <a:srgbClr val="0EA5A5"/>
          </a:solidFill>
          <a:ln w="12700">
            <a:solidFill>
              <a:srgbClr val="0EA5A5"/>
            </a:solidFill>
            <a:prstDash val="solid"/>
          </a:ln>
        </p:spPr>
        <p:txBody>
          <a:bodyPr/>
          <a:p/>
        </p:txBody>
      </p:sp>
      <p:sp>
        <p:nvSpPr>
          <p:cNvPr id="11" name="Shape 9"/>
          <p:cNvSpPr/>
          <p:nvPr/>
        </p:nvSpPr>
        <p:spPr>
          <a:xfrm>
            <a:off x="6236208" y="2207895"/>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6473952" y="2103120"/>
            <a:ext cx="4956048" cy="11430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Scope: Platform that would normally be a squad's quarter</a:t>
            </a:r>
            <a:endParaRPr lang="en-US" sz="1500" dirty="0"/>
          </a:p>
        </p:txBody>
      </p:sp>
      <p:sp>
        <p:nvSpPr>
          <p:cNvPr id="13" name="Shape 11"/>
          <p:cNvSpPr/>
          <p:nvPr/>
        </p:nvSpPr>
        <p:spPr>
          <a:xfrm>
            <a:off x="6236208" y="3350895"/>
            <a:ext cx="109728" cy="109728"/>
          </a:xfrm>
          <a:prstGeom prst="ellipse">
            <a:avLst/>
          </a:prstGeom>
          <a:solidFill>
            <a:srgbClr val="0EA5A5"/>
          </a:solidFill>
          <a:ln w="12700">
            <a:solidFill>
              <a:srgbClr val="0EA5A5"/>
            </a:solidFill>
            <a:prstDash val="solid"/>
          </a:ln>
        </p:spPr>
        <p:txBody>
          <a:bodyPr/>
          <a:p/>
        </p:txBody>
      </p:sp>
      <p:sp>
        <p:nvSpPr>
          <p:cNvPr id="14" name="Text 12"/>
          <p:cNvSpPr/>
          <p:nvPr/>
        </p:nvSpPr>
        <p:spPr>
          <a:xfrm>
            <a:off x="6473952" y="3246120"/>
            <a:ext cx="4956048" cy="11430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Constraint: Solo engineering, new business domain, two-month window</a:t>
            </a:r>
            <a:endParaRPr lang="en-US" sz="1500" dirty="0"/>
          </a:p>
        </p:txBody>
      </p:sp>
      <p:sp>
        <p:nvSpPr>
          <p:cNvPr id="15" name="Shape 13"/>
          <p:cNvSpPr/>
          <p:nvPr/>
        </p:nvSpPr>
        <p:spPr>
          <a:xfrm>
            <a:off x="6236208" y="4493895"/>
            <a:ext cx="109728" cy="109728"/>
          </a:xfrm>
          <a:prstGeom prst="ellipse">
            <a:avLst/>
          </a:prstGeom>
          <a:solidFill>
            <a:srgbClr val="0EA5A5"/>
          </a:solidFill>
          <a:ln w="12700">
            <a:solidFill>
              <a:srgbClr val="0EA5A5"/>
            </a:solidFill>
            <a:prstDash val="solid"/>
          </a:ln>
        </p:spPr>
        <p:txBody>
          <a:bodyPr/>
          <a:p/>
        </p:txBody>
      </p:sp>
      <p:sp>
        <p:nvSpPr>
          <p:cNvPr id="16" name="Text 14"/>
          <p:cNvSpPr/>
          <p:nvPr/>
        </p:nvSpPr>
        <p:spPr>
          <a:xfrm>
            <a:off x="6473952" y="4389120"/>
            <a:ext cx="4956048" cy="11430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Result: Production live; written recognition from client and Infosys leadership</a:t>
            </a:r>
            <a:endParaRPr lang="en-US" sz="1500" dirty="0"/>
          </a:p>
        </p:txBody>
      </p:sp>
      <p:sp>
        <p:nvSpPr>
          <p:cNvPr id="17" name="Text 15"/>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18" name="Text 16"/>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EA5A5"/>
          </a:solidFill>
          <a:ln w="12700">
            <a:solidFill>
              <a:srgbClr val="0EA5A5"/>
            </a:solidFill>
            <a:prstDash val="solid"/>
          </a:ln>
        </p:spPr>
        <p:txBody>
          <a:bodyPr/>
          <a:p/>
        </p:txBody>
      </p:sp>
      <p:sp>
        <p:nvSpPr>
          <p:cNvPr id="3" name="Text 1"/>
          <p:cNvSpPr/>
          <p:nvPr/>
        </p:nvSpPr>
        <p:spPr>
          <a:xfrm>
            <a:off x="685800" y="457200"/>
            <a:ext cx="11018520" cy="73152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Biggest mistake &amp; what I'd change with hindsight</a:t>
            </a:r>
            <a:endParaRPr lang="en-US" sz="3000" dirty="0"/>
          </a:p>
        </p:txBody>
      </p:sp>
      <p:sp>
        <p:nvSpPr>
          <p:cNvPr id="4" name="Shape 2"/>
          <p:cNvSpPr/>
          <p:nvPr/>
        </p:nvSpPr>
        <p:spPr>
          <a:xfrm>
            <a:off x="548640" y="1554480"/>
            <a:ext cx="5486400" cy="4572000"/>
          </a:xfrm>
          <a:prstGeom prst="rect">
            <a:avLst/>
          </a:prstGeom>
          <a:solidFill>
            <a:srgbClr val="F8FAFC"/>
          </a:solidFill>
          <a:ln w="12700">
            <a:solidFill>
              <a:srgbClr val="E2E8F0"/>
            </a:solidFill>
            <a:prstDash val="solid"/>
          </a:ln>
        </p:spPr>
        <p:txBody>
          <a:bodyPr/>
          <a:p/>
        </p:txBody>
      </p:sp>
      <p:sp>
        <p:nvSpPr>
          <p:cNvPr id="5" name="Shape 3"/>
          <p:cNvSpPr/>
          <p:nvPr/>
        </p:nvSpPr>
        <p:spPr>
          <a:xfrm>
            <a:off x="548640" y="1554480"/>
            <a:ext cx="73152" cy="4572000"/>
          </a:xfrm>
          <a:prstGeom prst="rect">
            <a:avLst/>
          </a:prstGeom>
          <a:solidFill>
            <a:srgbClr val="0EA5A5"/>
          </a:solidFill>
          <a:ln w="12700">
            <a:solidFill>
              <a:srgbClr val="0EA5A5"/>
            </a:solidFill>
            <a:prstDash val="solid"/>
          </a:ln>
        </p:spPr>
        <p:txBody>
          <a:bodyPr/>
          <a:p/>
        </p:txBody>
      </p:sp>
      <p:sp>
        <p:nvSpPr>
          <p:cNvPr id="6" name="Text 4"/>
          <p:cNvSpPr/>
          <p:nvPr/>
        </p:nvSpPr>
        <p:spPr>
          <a:xfrm>
            <a:off x="82296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The mistake</a:t>
            </a:r>
            <a:endParaRPr lang="en-US" sz="1700" dirty="0"/>
          </a:p>
        </p:txBody>
      </p:sp>
      <p:sp>
        <p:nvSpPr>
          <p:cNvPr id="7" name="Shape 5"/>
          <p:cNvSpPr/>
          <p:nvPr/>
        </p:nvSpPr>
        <p:spPr>
          <a:xfrm>
            <a:off x="841248" y="2573655"/>
            <a:ext cx="109728" cy="109728"/>
          </a:xfrm>
          <a:prstGeom prst="ellipse">
            <a:avLst/>
          </a:prstGeom>
          <a:solidFill>
            <a:srgbClr val="0EA5A5"/>
          </a:solidFill>
          <a:ln w="12700">
            <a:solidFill>
              <a:srgbClr val="0EA5A5"/>
            </a:solidFill>
            <a:prstDash val="solid"/>
          </a:ln>
        </p:spPr>
        <p:txBody>
          <a:bodyPr/>
          <a:p/>
        </p:txBody>
      </p:sp>
      <p:sp>
        <p:nvSpPr>
          <p:cNvPr id="8" name="Text 6"/>
          <p:cNvSpPr/>
          <p:nvPr/>
        </p:nvSpPr>
        <p:spPr>
          <a:xfrm>
            <a:off x="1078992" y="2468880"/>
            <a:ext cx="4773168" cy="9144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Took the partner authentication brief at face value during design</a:t>
            </a:r>
            <a:endParaRPr lang="en-US" sz="1500" dirty="0"/>
          </a:p>
        </p:txBody>
      </p:sp>
      <p:sp>
        <p:nvSpPr>
          <p:cNvPr id="9" name="Shape 7"/>
          <p:cNvSpPr/>
          <p:nvPr/>
        </p:nvSpPr>
        <p:spPr>
          <a:xfrm>
            <a:off x="841248" y="3488055"/>
            <a:ext cx="109728" cy="109728"/>
          </a:xfrm>
          <a:prstGeom prst="ellipse">
            <a:avLst/>
          </a:prstGeom>
          <a:solidFill>
            <a:srgbClr val="0EA5A5"/>
          </a:solidFill>
          <a:ln w="12700">
            <a:solidFill>
              <a:srgbClr val="0EA5A5"/>
            </a:solidFill>
            <a:prstDash val="solid"/>
          </a:ln>
        </p:spPr>
        <p:txBody>
          <a:bodyPr/>
          <a:p/>
        </p:txBody>
      </p:sp>
      <p:sp>
        <p:nvSpPr>
          <p:cNvPr id="10" name="Text 8"/>
          <p:cNvSpPr/>
          <p:nvPr/>
        </p:nvSpPr>
        <p:spPr>
          <a:xfrm>
            <a:off x="1078992" y="3383280"/>
            <a:ext cx="4773168" cy="9144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Discovered the federation gap during integration, not design</a:t>
            </a:r>
            <a:endParaRPr lang="en-US" sz="1500" dirty="0"/>
          </a:p>
        </p:txBody>
      </p:sp>
      <p:sp>
        <p:nvSpPr>
          <p:cNvPr id="11" name="Shape 9"/>
          <p:cNvSpPr/>
          <p:nvPr/>
        </p:nvSpPr>
        <p:spPr>
          <a:xfrm>
            <a:off x="841248" y="4402455"/>
            <a:ext cx="109728" cy="109728"/>
          </a:xfrm>
          <a:prstGeom prst="ellipse">
            <a:avLst/>
          </a:prstGeom>
          <a:solidFill>
            <a:srgbClr val="0EA5A5"/>
          </a:solidFill>
          <a:ln w="12700">
            <a:solidFill>
              <a:srgbClr val="0EA5A5"/>
            </a:solidFill>
            <a:prstDash val="solid"/>
          </a:ln>
        </p:spPr>
        <p:txBody>
          <a:bodyPr/>
          <a:p/>
        </p:txBody>
      </p:sp>
      <p:sp>
        <p:nvSpPr>
          <p:cNvPr id="12" name="Text 10"/>
          <p:cNvSpPr/>
          <p:nvPr/>
        </p:nvSpPr>
        <p:spPr>
          <a:xfrm>
            <a:off x="1078992" y="4297680"/>
            <a:ext cx="4773168" cy="91440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Cost roughly a week of unblocking and a scope re-negotiation</a:t>
            </a:r>
            <a:endParaRPr lang="en-US" sz="1500" dirty="0"/>
          </a:p>
        </p:txBody>
      </p:sp>
      <p:sp>
        <p:nvSpPr>
          <p:cNvPr id="13" name="Shape 11"/>
          <p:cNvSpPr/>
          <p:nvPr/>
        </p:nvSpPr>
        <p:spPr>
          <a:xfrm>
            <a:off x="6309360" y="1554480"/>
            <a:ext cx="5486400" cy="4572000"/>
          </a:xfrm>
          <a:prstGeom prst="rect">
            <a:avLst/>
          </a:prstGeom>
          <a:solidFill>
            <a:srgbClr val="F8FAFC"/>
          </a:solidFill>
          <a:ln w="12700">
            <a:solidFill>
              <a:srgbClr val="E2E8F0"/>
            </a:solidFill>
            <a:prstDash val="solid"/>
          </a:ln>
        </p:spPr>
        <p:txBody>
          <a:bodyPr/>
          <a:p/>
        </p:txBody>
      </p:sp>
      <p:sp>
        <p:nvSpPr>
          <p:cNvPr id="14" name="Shape 12"/>
          <p:cNvSpPr/>
          <p:nvPr/>
        </p:nvSpPr>
        <p:spPr>
          <a:xfrm>
            <a:off x="6309360" y="1554480"/>
            <a:ext cx="73152" cy="4572000"/>
          </a:xfrm>
          <a:prstGeom prst="rect">
            <a:avLst/>
          </a:prstGeom>
          <a:solidFill>
            <a:srgbClr val="0EA5A5"/>
          </a:solidFill>
          <a:ln w="12700">
            <a:solidFill>
              <a:srgbClr val="0EA5A5"/>
            </a:solidFill>
            <a:prstDash val="solid"/>
          </a:ln>
        </p:spPr>
        <p:txBody>
          <a:bodyPr/>
          <a:p/>
        </p:txBody>
      </p:sp>
      <p:sp>
        <p:nvSpPr>
          <p:cNvPr id="15" name="Text 13"/>
          <p:cNvSpPr/>
          <p:nvPr/>
        </p:nvSpPr>
        <p:spPr>
          <a:xfrm>
            <a:off x="6583680" y="1828800"/>
            <a:ext cx="502920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What I'd do differently</a:t>
            </a:r>
            <a:endParaRPr lang="en-US" sz="1700" dirty="0"/>
          </a:p>
        </p:txBody>
      </p:sp>
      <p:sp>
        <p:nvSpPr>
          <p:cNvPr id="16" name="Shape 14"/>
          <p:cNvSpPr/>
          <p:nvPr/>
        </p:nvSpPr>
        <p:spPr>
          <a:xfrm>
            <a:off x="6601968" y="2573655"/>
            <a:ext cx="109728" cy="109728"/>
          </a:xfrm>
          <a:prstGeom prst="ellipse">
            <a:avLst/>
          </a:prstGeom>
          <a:solidFill>
            <a:srgbClr val="0EA5A5"/>
          </a:solidFill>
          <a:ln w="12700">
            <a:solidFill>
              <a:srgbClr val="0EA5A5"/>
            </a:solidFill>
            <a:prstDash val="solid"/>
          </a:ln>
        </p:spPr>
        <p:txBody>
          <a:bodyPr/>
          <a:p/>
        </p:txBody>
      </p:sp>
      <p:sp>
        <p:nvSpPr>
          <p:cNvPr id="17" name="Text 15"/>
          <p:cNvSpPr/>
          <p:nvPr/>
        </p:nvSpPr>
        <p:spPr>
          <a:xfrm>
            <a:off x="6839712" y="246888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Two-day integration spike at sprint zero on every non-trivial dependency</a:t>
            </a:r>
            <a:endParaRPr lang="en-US" sz="1500" dirty="0"/>
          </a:p>
        </p:txBody>
      </p:sp>
      <p:sp>
        <p:nvSpPr>
          <p:cNvPr id="18" name="Shape 16"/>
          <p:cNvSpPr/>
          <p:nvPr/>
        </p:nvSpPr>
        <p:spPr>
          <a:xfrm>
            <a:off x="6601968" y="3350895"/>
            <a:ext cx="109728" cy="109728"/>
          </a:xfrm>
          <a:prstGeom prst="ellipse">
            <a:avLst/>
          </a:prstGeom>
          <a:solidFill>
            <a:srgbClr val="0EA5A5"/>
          </a:solidFill>
          <a:ln w="12700">
            <a:solidFill>
              <a:srgbClr val="0EA5A5"/>
            </a:solidFill>
            <a:prstDash val="solid"/>
          </a:ln>
        </p:spPr>
        <p:txBody>
          <a:bodyPr/>
          <a:p/>
        </p:txBody>
      </p:sp>
      <p:sp>
        <p:nvSpPr>
          <p:cNvPr id="19" name="Text 17"/>
          <p:cNvSpPr/>
          <p:nvPr/>
        </p:nvSpPr>
        <p:spPr>
          <a:xfrm>
            <a:off x="6839712" y="324612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Spike-the-risk-first as a non-negotiable habit</a:t>
            </a:r>
            <a:endParaRPr lang="en-US" sz="1500" dirty="0"/>
          </a:p>
        </p:txBody>
      </p:sp>
      <p:sp>
        <p:nvSpPr>
          <p:cNvPr id="20" name="Shape 18"/>
          <p:cNvSpPr/>
          <p:nvPr/>
        </p:nvSpPr>
        <p:spPr>
          <a:xfrm>
            <a:off x="6601968" y="4128135"/>
            <a:ext cx="109728" cy="109728"/>
          </a:xfrm>
          <a:prstGeom prst="ellipse">
            <a:avLst/>
          </a:prstGeom>
          <a:solidFill>
            <a:srgbClr val="0EA5A5"/>
          </a:solidFill>
          <a:ln w="12700">
            <a:solidFill>
              <a:srgbClr val="0EA5A5"/>
            </a:solidFill>
            <a:prstDash val="solid"/>
          </a:ln>
        </p:spPr>
        <p:txBody>
          <a:bodyPr/>
          <a:p/>
        </p:txBody>
      </p:sp>
      <p:sp>
        <p:nvSpPr>
          <p:cNvPr id="21" name="Text 19"/>
          <p:cNvSpPr/>
          <p:nvPr/>
        </p:nvSpPr>
        <p:spPr>
          <a:xfrm>
            <a:off x="6839712" y="402336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Use AI-assisted spec-to-test scaffolding earlier</a:t>
            </a:r>
            <a:endParaRPr lang="en-US" sz="1500" dirty="0"/>
          </a:p>
        </p:txBody>
      </p:sp>
      <p:sp>
        <p:nvSpPr>
          <p:cNvPr id="22" name="Shape 20"/>
          <p:cNvSpPr/>
          <p:nvPr/>
        </p:nvSpPr>
        <p:spPr>
          <a:xfrm>
            <a:off x="6601968" y="4905375"/>
            <a:ext cx="109728" cy="109728"/>
          </a:xfrm>
          <a:prstGeom prst="ellipse">
            <a:avLst/>
          </a:prstGeom>
          <a:solidFill>
            <a:srgbClr val="0EA5A5"/>
          </a:solidFill>
          <a:ln w="12700">
            <a:solidFill>
              <a:srgbClr val="0EA5A5"/>
            </a:solidFill>
            <a:prstDash val="solid"/>
          </a:ln>
        </p:spPr>
        <p:txBody>
          <a:bodyPr/>
          <a:p/>
        </p:txBody>
      </p:sp>
      <p:sp>
        <p:nvSpPr>
          <p:cNvPr id="23" name="Text 21"/>
          <p:cNvSpPr/>
          <p:nvPr/>
        </p:nvSpPr>
        <p:spPr>
          <a:xfrm>
            <a:off x="6839712" y="4800600"/>
            <a:ext cx="4773168" cy="777240"/>
          </a:xfrm>
          <a:prstGeom prst="rect">
            <a:avLst/>
          </a:prstGeom>
          <a:noFill/>
          <a:ln/>
        </p:spPr>
        <p:txBody>
          <a:bodyPr wrap="square" lIns="0" tIns="0" rIns="0" bIns="0" rtlCol="0" anchor="t"/>
          <a:lstStyle/>
          <a:p>
            <a:pPr algn="l" indent="0" marL="0">
              <a:buNone/>
            </a:pPr>
            <a:r>
              <a:rPr lang="en-US" sz="1500" dirty="0">
                <a:solidFill>
                  <a:srgbClr val="0F172A"/>
                </a:solidFill>
                <a:latin typeface="Calibri" pitchFamily="34" charset="0"/>
                <a:ea typeface="Calibri" pitchFamily="34" charset="-122"/>
                <a:cs typeface="Calibri" pitchFamily="34" charset="-120"/>
              </a:rPr>
              <a:t>Document the failure mode publicly so the team learns, not just me</a:t>
            </a:r>
            <a:endParaRPr lang="en-US" sz="1500" dirty="0"/>
          </a:p>
        </p:txBody>
      </p:sp>
      <p:sp>
        <p:nvSpPr>
          <p:cNvPr id="24" name="Text 2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25" name="Text 2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4983480" y="1737360"/>
            <a:ext cx="2194560" cy="109728"/>
          </a:xfrm>
          <a:prstGeom prst="rect">
            <a:avLst/>
          </a:prstGeom>
          <a:solidFill>
            <a:srgbClr val="0EA5A5"/>
          </a:solidFill>
          <a:ln w="12700">
            <a:solidFill>
              <a:srgbClr val="0EA5A5"/>
            </a:solidFill>
            <a:prstDash val="solid"/>
          </a:ln>
        </p:spPr>
        <p:txBody>
          <a:bodyPr/>
          <a:p/>
        </p:txBody>
      </p:sp>
      <p:sp>
        <p:nvSpPr>
          <p:cNvPr id="3" name="Text 1"/>
          <p:cNvSpPr/>
          <p:nvPr/>
        </p:nvSpPr>
        <p:spPr>
          <a:xfrm>
            <a:off x="457200" y="2103120"/>
            <a:ext cx="1124712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4" name="Text 2"/>
          <p:cNvSpPr/>
          <p:nvPr/>
        </p:nvSpPr>
        <p:spPr>
          <a:xfrm>
            <a:off x="457200" y="3566160"/>
            <a:ext cx="11247120" cy="640080"/>
          </a:xfrm>
          <a:prstGeom prst="rect">
            <a:avLst/>
          </a:prstGeom>
          <a:noFill/>
          <a:ln/>
        </p:spPr>
        <p:txBody>
          <a:bodyPr wrap="square" lIns="0" tIns="0" rIns="0" bIns="0" rtlCol="0" anchor="ctr"/>
          <a:lstStyle/>
          <a:p>
            <a:pPr algn="ctr" indent="0" marL="0">
              <a:buNone/>
            </a:pPr>
            <a:r>
              <a:rPr lang="en-US" sz="2000" dirty="0">
                <a:solidFill>
                  <a:srgbClr val="CBD5E1"/>
                </a:solidFill>
                <a:latin typeface="Calibri" pitchFamily="34" charset="0"/>
                <a:ea typeface="Calibri" pitchFamily="34" charset="-122"/>
                <a:cs typeface="Calibri" pitchFamily="34" charset="-120"/>
              </a:rPr>
              <a:t>Happy to dive deep on any architecture, agent design, or trade-off.</a:t>
            </a:r>
            <a:endParaRPr lang="en-US" sz="2000" dirty="0"/>
          </a:p>
        </p:txBody>
      </p:sp>
      <p:sp>
        <p:nvSpPr>
          <p:cNvPr id="5" name="Text 3"/>
          <p:cNvSpPr/>
          <p:nvPr/>
        </p:nvSpPr>
        <p:spPr>
          <a:xfrm>
            <a:off x="457200" y="5120640"/>
            <a:ext cx="11247120" cy="548640"/>
          </a:xfrm>
          <a:prstGeom prst="rect">
            <a:avLst/>
          </a:prstGeom>
          <a:noFill/>
          <a:ln/>
        </p:spPr>
        <p:txBody>
          <a:bodyPr wrap="square" lIns="0" tIns="0" rIns="0" bIns="0" rtlCol="0" anchor="ctr"/>
          <a:lstStyle/>
          <a:p>
            <a:pPr algn="ctr" indent="0" marL="0">
              <a:buNone/>
            </a:pPr>
            <a:r>
              <a:rPr lang="en-US" sz="1600" dirty="0">
                <a:solidFill>
                  <a:srgbClr val="0EA5A5"/>
                </a:solidFill>
                <a:latin typeface="Calibri" pitchFamily="34" charset="0"/>
                <a:ea typeface="Calibri" pitchFamily="34" charset="-122"/>
                <a:cs typeface="Calibri" pitchFamily="34" charset="-120"/>
              </a:rPr>
              <a:t>Ajay Antony  ·  ajaybelgium724@gmail.com</a:t>
            </a:r>
            <a:endParaRPr lang="en-US" sz="1600" dirty="0"/>
          </a:p>
        </p:txBody>
      </p:sp>
      <p:sp>
        <p:nvSpPr>
          <p:cNvPr id="6" name="Text 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Ajay Antony  ·  Capgemini Blue Harvest Panel  ·  May 2026</a:t>
            </a:r>
            <a:endParaRPr lang="en-US" sz="1000" dirty="0"/>
          </a:p>
        </p:txBody>
      </p:sp>
      <p:sp>
        <p:nvSpPr>
          <p:cNvPr id="7" name="Text 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Partner-Ticketing at Telecom Scale</dc:title>
  <dc:subject>PptxGenJS Presentation</dc:subject>
  <dc:creator>Ajay Antony</dc:creator>
  <cp:lastModifiedBy>Ajay Antony</cp:lastModifiedBy>
  <cp:revision>1</cp:revision>
  <dcterms:created xsi:type="dcterms:W3CDTF">2026-05-03T20:42:37Z</dcterms:created>
  <dcterms:modified xsi:type="dcterms:W3CDTF">2026-05-03T20:42:37Z</dcterms:modified>
</cp:coreProperties>
</file>